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9"/>
  </p:notesMasterIdLst>
  <p:handoutMasterIdLst>
    <p:handoutMasterId r:id="rId30"/>
  </p:handoutMasterIdLst>
  <p:sldIdLst>
    <p:sldId id="317" r:id="rId5"/>
    <p:sldId id="308" r:id="rId6"/>
    <p:sldId id="309" r:id="rId7"/>
    <p:sldId id="319" r:id="rId8"/>
    <p:sldId id="278" r:id="rId9"/>
    <p:sldId id="310" r:id="rId10"/>
    <p:sldId id="314" r:id="rId11"/>
    <p:sldId id="263" r:id="rId12"/>
    <p:sldId id="311" r:id="rId13"/>
    <p:sldId id="304" r:id="rId14"/>
    <p:sldId id="312" r:id="rId15"/>
    <p:sldId id="326" r:id="rId16"/>
    <p:sldId id="328" r:id="rId17"/>
    <p:sldId id="327" r:id="rId18"/>
    <p:sldId id="329" r:id="rId19"/>
    <p:sldId id="330" r:id="rId20"/>
    <p:sldId id="331" r:id="rId21"/>
    <p:sldId id="321" r:id="rId22"/>
    <p:sldId id="315" r:id="rId23"/>
    <p:sldId id="322" r:id="rId24"/>
    <p:sldId id="316" r:id="rId25"/>
    <p:sldId id="320" r:id="rId26"/>
    <p:sldId id="323" r:id="rId27"/>
    <p:sldId id="32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445261-52B9-4106-A4C5-BDA2394449E0}">
          <p14:sldIdLst>
            <p14:sldId id="317"/>
            <p14:sldId id="308"/>
            <p14:sldId id="309"/>
            <p14:sldId id="319"/>
            <p14:sldId id="278"/>
            <p14:sldId id="310"/>
            <p14:sldId id="314"/>
            <p14:sldId id="263"/>
            <p14:sldId id="311"/>
            <p14:sldId id="304"/>
            <p14:sldId id="312"/>
            <p14:sldId id="326"/>
            <p14:sldId id="328"/>
            <p14:sldId id="327"/>
            <p14:sldId id="329"/>
            <p14:sldId id="330"/>
            <p14:sldId id="331"/>
            <p14:sldId id="321"/>
            <p14:sldId id="315"/>
            <p14:sldId id="322"/>
            <p14:sldId id="316"/>
            <p14:sldId id="320"/>
            <p14:sldId id="323"/>
            <p14:sldId id="325"/>
          </p14:sldIdLst>
        </p14:section>
      </p14:sectionLst>
    </p:ex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405" autoAdjust="0"/>
  </p:normalViewPr>
  <p:slideViewPr>
    <p:cSldViewPr snapToGrid="0">
      <p:cViewPr varScale="1">
        <p:scale>
          <a:sx n="78" d="100"/>
          <a:sy n="78" d="100"/>
        </p:scale>
        <p:origin x="869" y="43"/>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5/8/2026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5/8/2026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0D22F-BE03-9520-054A-7EDF08025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8E1B5-BE7B-B559-1B34-F83BA710E63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D49118C-C28C-3C42-6D1F-20BA0BFA36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21204-C448-AAE5-55F8-329D31209C16}"/>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339451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2E79E-0577-432B-E521-35ECED90A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63CC8-82B3-DCCC-5435-A6E46D93D03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93C9D53-6F8D-31D4-1F12-9250955A6C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D7EF85-2D9B-65E8-9D37-A9D013DC55B7}"/>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288195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2A5DB-B4B8-D561-B8E7-E21C115D9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2ABC3-C7FE-B6CE-9D96-F778242888B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C0C44C-7651-9644-E7A5-A27DB703FF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E0D196-4001-A085-0895-BF155E044961}"/>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1602322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82AC4-F086-9A11-DD57-D9DA2A9AA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C3788-170D-E26E-4ADA-0954C16EA3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B3CD52C-450F-421E-8039-77E53123A0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12F2D-0AEC-35DD-006B-4F805482754D}"/>
              </a:ext>
            </a:extLst>
          </p:cNvPr>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574817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C2B9C-CD12-C077-FE94-118338B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BD071-854F-A21F-4D4B-DD692956975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40E084C-9FA1-0236-C633-E81B41C25D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2E3C42-1422-21F9-81DB-DEF6F577E0F6}"/>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3501249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1DE96-DB58-BB47-1E3D-43A1FD157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EC2CA-3532-50E2-9E62-CCC50938C01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F3C633C-65E4-5C3F-D3F4-F97A84E487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CFB090-7600-BA5C-5FCE-63427D7072AD}"/>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1254104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dirty="0"/>
              <a:t>Click icon to add picture</a:t>
            </a:r>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dirty="0"/>
              <a:t>Click icon to add picture</a:t>
            </a:r>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endParaRPr lang="en-US"/>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6775BF98-02A3-3554-F80F-648F275A66EF}"/>
              </a:ext>
            </a:extLst>
          </p:cNvPr>
          <p:cNvSpPr>
            <a:spLocks noGrp="1"/>
          </p:cNvSpPr>
          <p:nvPr>
            <p:ph type="ctrTitle"/>
          </p:nvPr>
        </p:nvSpPr>
        <p:spPr>
          <a:xfrm>
            <a:off x="1527050" y="2340637"/>
            <a:ext cx="9025130" cy="999780"/>
          </a:xfrm>
        </p:spPr>
        <p:txBody>
          <a:bodyPr anchor="b" anchorCtr="0"/>
          <a:lstStyle/>
          <a:p>
            <a:r>
              <a:rPr lang="en-IN" sz="5400" b="1" dirty="0">
                <a:effectLst/>
                <a:latin typeface="Times New Roman" panose="02020603050405020304" pitchFamily="18" charset="0"/>
                <a:ea typeface="Times New Roman" panose="02020603050405020304" pitchFamily="18" charset="0"/>
                <a:cs typeface="Times New Roman" panose="02020603050405020304" pitchFamily="18" charset="0"/>
              </a:rPr>
              <a:t>CityTrack </a:t>
            </a:r>
            <a:endParaRPr lang="en-US" dirty="0"/>
          </a:p>
        </p:txBody>
      </p:sp>
      <p:sp>
        <p:nvSpPr>
          <p:cNvPr id="10" name="Subtitle 4">
            <a:extLst>
              <a:ext uri="{FF2B5EF4-FFF2-40B4-BE49-F238E27FC236}">
                <a16:creationId xmlns:a16="http://schemas.microsoft.com/office/drawing/2014/main" id="{E60B9E26-C729-E1CF-C7C8-BE7C82CECF0E}"/>
              </a:ext>
            </a:extLst>
          </p:cNvPr>
          <p:cNvSpPr txBox="1">
            <a:spLocks/>
          </p:cNvSpPr>
          <p:nvPr/>
        </p:nvSpPr>
        <p:spPr>
          <a:xfrm>
            <a:off x="1150375" y="3728431"/>
            <a:ext cx="10326480" cy="89027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dirty="0">
                <a:latin typeface="Times New Roman" panose="02020603050405020304" pitchFamily="18" charset="0"/>
                <a:ea typeface="Times New Roman" panose="02020603050405020304" pitchFamily="18" charset="0"/>
                <a:cs typeface="Times New Roman" panose="02020603050405020304" pitchFamily="18" charset="0"/>
              </a:rPr>
              <a:t>AI-Powered Smart City Issue Reporting &amp; Management System</a:t>
            </a:r>
            <a:endParaRPr lang="en-US" dirty="0"/>
          </a:p>
        </p:txBody>
      </p:sp>
      <p:sp>
        <p:nvSpPr>
          <p:cNvPr id="11" name="Subtitle 4">
            <a:extLst>
              <a:ext uri="{FF2B5EF4-FFF2-40B4-BE49-F238E27FC236}">
                <a16:creationId xmlns:a16="http://schemas.microsoft.com/office/drawing/2014/main" id="{C4D12027-0C2E-9B7B-9578-366B9DE4EAF4}"/>
              </a:ext>
            </a:extLst>
          </p:cNvPr>
          <p:cNvSpPr txBox="1">
            <a:spLocks/>
          </p:cNvSpPr>
          <p:nvPr/>
        </p:nvSpPr>
        <p:spPr>
          <a:xfrm>
            <a:off x="1527050" y="3429000"/>
            <a:ext cx="9144000" cy="2077605"/>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None/>
              <a:defRPr sz="2800" kern="1200">
                <a:solidFill>
                  <a:schemeClr val="bg1"/>
                </a:solidFill>
                <a:effectLst/>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CE2465E-B0C6-0C3B-830C-847DBFD90707}"/>
              </a:ext>
            </a:extLst>
          </p:cNvPr>
          <p:cNvSpPr>
            <a:spLocks noGrp="1"/>
          </p:cNvSpPr>
          <p:nvPr>
            <p:ph type="title"/>
          </p:nvPr>
        </p:nvSpPr>
        <p:spPr>
          <a:xfrm>
            <a:off x="635623" y="577501"/>
            <a:ext cx="6036632" cy="974998"/>
          </a:xfrm>
        </p:spPr>
        <p:txBody>
          <a:bodyPr/>
          <a:lstStyle/>
          <a:p>
            <a:r>
              <a:rPr lang="en-US" dirty="0"/>
              <a:t>Table of contents</a:t>
            </a:r>
          </a:p>
        </p:txBody>
      </p:sp>
      <p:sp>
        <p:nvSpPr>
          <p:cNvPr id="11" name="Slide Number Placeholder 17">
            <a:extLst>
              <a:ext uri="{FF2B5EF4-FFF2-40B4-BE49-F238E27FC236}">
                <a16:creationId xmlns:a16="http://schemas.microsoft.com/office/drawing/2014/main" id="{141D09C0-02B3-30F8-DB37-890D908840D5}"/>
              </a:ext>
            </a:extLst>
          </p:cNvPr>
          <p:cNvSpPr txBox="1">
            <a:spLocks/>
          </p:cNvSpPr>
          <p:nvPr/>
        </p:nvSpPr>
        <p:spPr>
          <a:xfrm>
            <a:off x="8610600" y="64293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pPr/>
              <a:t>2</a:t>
            </a:fld>
            <a:endParaRPr lang="en-US"/>
          </a:p>
        </p:txBody>
      </p:sp>
      <p:sp>
        <p:nvSpPr>
          <p:cNvPr id="12" name="Content Placeholder 2">
            <a:extLst>
              <a:ext uri="{FF2B5EF4-FFF2-40B4-BE49-F238E27FC236}">
                <a16:creationId xmlns:a16="http://schemas.microsoft.com/office/drawing/2014/main" id="{88ABCF87-4885-4296-292A-B0E57AB5C2C5}"/>
              </a:ext>
            </a:extLst>
          </p:cNvPr>
          <p:cNvSpPr txBox="1">
            <a:spLocks/>
          </p:cNvSpPr>
          <p:nvPr/>
        </p:nvSpPr>
        <p:spPr>
          <a:xfrm>
            <a:off x="4650364" y="2448823"/>
            <a:ext cx="6666993" cy="257022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Clr>
                <a:schemeClr val="tx2">
                  <a:lumMod val="10000"/>
                  <a:lumOff val="90000"/>
                </a:schemeClr>
              </a:buClr>
              <a:buSzPct val="80000"/>
              <a:buFont typeface="Wingdings" panose="05000000000000000000" pitchFamily="2" charset="2"/>
              <a:buNone/>
              <a:defRPr sz="20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07000"/>
              </a:lnSpc>
              <a:spcAft>
                <a:spcPts val="800"/>
              </a:spcAft>
              <a:buSzPts val="1000"/>
              <a:tabLst>
                <a:tab pos="45720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
            <a:extLst>
              <a:ext uri="{FF2B5EF4-FFF2-40B4-BE49-F238E27FC236}">
                <a16:creationId xmlns:a16="http://schemas.microsoft.com/office/drawing/2014/main" id="{3D45C085-6038-CD86-B8C6-8F426295EC80}"/>
              </a:ext>
            </a:extLst>
          </p:cNvPr>
          <p:cNvSpPr txBox="1">
            <a:spLocks noChangeArrowheads="1"/>
          </p:cNvSpPr>
          <p:nvPr/>
        </p:nvSpPr>
        <p:spPr bwMode="auto">
          <a:xfrm>
            <a:off x="635623" y="1987826"/>
            <a:ext cx="439357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r"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9pPr>
          </a:lstStyle>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Introduction</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Literature Review</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Problem Statement</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Objectives</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Proposed Solution</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System Architecture Overview</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AI-Based Complaint Classification</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Severity Prediction Logic</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Duplicate Detection Mechanism</a:t>
            </a:r>
          </a:p>
          <a:p>
            <a:pPr marL="342900" indent="-342900" algn="l" eaLnBrk="0" fontAlgn="base" hangingPunct="0">
              <a:lnSpc>
                <a:spcPct val="100000"/>
              </a:lnSpc>
              <a:spcBef>
                <a:spcPct val="0"/>
              </a:spcBef>
              <a:spcAft>
                <a:spcPct val="0"/>
              </a:spcAft>
              <a:buFont typeface="+mj-lt"/>
              <a:buAutoNum type="arabicPeriod"/>
            </a:pPr>
            <a:r>
              <a:rPr lang="en-US" altLang="en-US">
                <a:latin typeface="Arial" panose="020B0604020202020204" pitchFamily="34" charset="0"/>
              </a:rPr>
              <a:t>User Module Workflow</a:t>
            </a:r>
          </a:p>
          <a:p>
            <a:pPr marL="342900" indent="-342900" algn="l" eaLnBrk="0" fontAlgn="base" hangingPunct="0">
              <a:lnSpc>
                <a:spcPct val="100000"/>
              </a:lnSpc>
              <a:spcBef>
                <a:spcPct val="0"/>
              </a:spcBef>
              <a:spcAft>
                <a:spcPct val="0"/>
              </a:spcAft>
              <a:buFont typeface="+mj-lt"/>
              <a:buAutoNum type="arabicPeriod"/>
            </a:pPr>
            <a:endParaRPr lang="en-US" altLang="en-US" dirty="0">
              <a:latin typeface="Arial" panose="020B0604020202020204" pitchFamily="34" charset="0"/>
            </a:endParaRPr>
          </a:p>
        </p:txBody>
      </p:sp>
      <p:sp>
        <p:nvSpPr>
          <p:cNvPr id="14" name="TextBox 13">
            <a:extLst>
              <a:ext uri="{FF2B5EF4-FFF2-40B4-BE49-F238E27FC236}">
                <a16:creationId xmlns:a16="http://schemas.microsoft.com/office/drawing/2014/main" id="{AADE0FD4-4B5B-6F99-A371-6D335A5418DC}"/>
              </a:ext>
            </a:extLst>
          </p:cNvPr>
          <p:cNvSpPr txBox="1"/>
          <p:nvPr/>
        </p:nvSpPr>
        <p:spPr>
          <a:xfrm>
            <a:off x="6420679" y="1987826"/>
            <a:ext cx="4144617" cy="2862322"/>
          </a:xfrm>
          <a:prstGeom prst="rect">
            <a:avLst/>
          </a:prstGeom>
          <a:noFill/>
        </p:spPr>
        <p:txBody>
          <a:bodyPr wrap="square" rtlCol="0">
            <a:spAutoFit/>
          </a:bodyPr>
          <a:lstStyle/>
          <a:p>
            <a:pPr lvl="0" eaLnBrk="0" fontAlgn="base" hangingPunct="0">
              <a:spcBef>
                <a:spcPct val="0"/>
              </a:spcBef>
              <a:spcAft>
                <a:spcPct val="0"/>
              </a:spcAft>
            </a:pPr>
            <a:r>
              <a:rPr lang="en-US" altLang="en-US" dirty="0">
                <a:latin typeface="Arial" panose="020B0604020202020204" pitchFamily="34" charset="0"/>
              </a:rPr>
              <a:t>11.  Admin &amp; Department Module</a:t>
            </a:r>
          </a:p>
          <a:p>
            <a:pPr lvl="0" eaLnBrk="0" fontAlgn="base" hangingPunct="0">
              <a:spcBef>
                <a:spcPct val="0"/>
              </a:spcBef>
              <a:spcAft>
                <a:spcPct val="0"/>
              </a:spcAft>
            </a:pPr>
            <a:r>
              <a:rPr lang="en-US" altLang="en-US" dirty="0">
                <a:latin typeface="Arial" panose="020B0604020202020204" pitchFamily="34" charset="0"/>
              </a:rPr>
              <a:t>12.  Field Worker Module</a:t>
            </a:r>
          </a:p>
          <a:p>
            <a:pPr lvl="0" eaLnBrk="0" fontAlgn="base" hangingPunct="0">
              <a:spcBef>
                <a:spcPct val="0"/>
              </a:spcBef>
              <a:spcAft>
                <a:spcPct val="0"/>
              </a:spcAft>
            </a:pPr>
            <a:r>
              <a:rPr lang="en-US" altLang="en-US" dirty="0">
                <a:latin typeface="Arial" panose="020B0604020202020204" pitchFamily="34" charset="0"/>
              </a:rPr>
              <a:t>13.  City Hotspot Dashboard</a:t>
            </a:r>
          </a:p>
          <a:p>
            <a:pPr lvl="0" eaLnBrk="0" fontAlgn="base" hangingPunct="0">
              <a:spcBef>
                <a:spcPct val="0"/>
              </a:spcBef>
              <a:spcAft>
                <a:spcPct val="0"/>
              </a:spcAft>
            </a:pPr>
            <a:r>
              <a:rPr lang="en-US" altLang="en-US" dirty="0">
                <a:latin typeface="Arial" panose="020B0604020202020204" pitchFamily="34" charset="0"/>
              </a:rPr>
              <a:t>14.  Flow Graph Explanation</a:t>
            </a:r>
          </a:p>
          <a:p>
            <a:pPr lvl="0" eaLnBrk="0" fontAlgn="base" hangingPunct="0">
              <a:spcBef>
                <a:spcPct val="0"/>
              </a:spcBef>
              <a:spcAft>
                <a:spcPct val="0"/>
              </a:spcAft>
            </a:pPr>
            <a:r>
              <a:rPr lang="en-US" altLang="en-US" dirty="0">
                <a:latin typeface="Arial" panose="020B0604020202020204" pitchFamily="34" charset="0"/>
              </a:rPr>
              <a:t>15.  Technology Stack</a:t>
            </a:r>
          </a:p>
          <a:p>
            <a:pPr lvl="0" eaLnBrk="0" fontAlgn="base" hangingPunct="0">
              <a:spcBef>
                <a:spcPct val="0"/>
              </a:spcBef>
              <a:spcAft>
                <a:spcPct val="0"/>
              </a:spcAft>
            </a:pPr>
            <a:r>
              <a:rPr lang="en-US" altLang="en-US" dirty="0">
                <a:latin typeface="Arial" panose="020B0604020202020204" pitchFamily="34" charset="0"/>
              </a:rPr>
              <a:t>16.  Development Workflow</a:t>
            </a:r>
          </a:p>
          <a:p>
            <a:pPr lvl="0" eaLnBrk="0" fontAlgn="base" hangingPunct="0">
              <a:spcBef>
                <a:spcPct val="0"/>
              </a:spcBef>
              <a:spcAft>
                <a:spcPct val="0"/>
              </a:spcAft>
            </a:pPr>
            <a:r>
              <a:rPr lang="en-US" altLang="en-US" dirty="0">
                <a:latin typeface="Arial" panose="020B0604020202020204" pitchFamily="34" charset="0"/>
              </a:rPr>
              <a:t>17.  Industry Relevance</a:t>
            </a:r>
          </a:p>
          <a:p>
            <a:pPr lvl="0" eaLnBrk="0" fontAlgn="base" hangingPunct="0">
              <a:spcBef>
                <a:spcPct val="0"/>
              </a:spcBef>
              <a:spcAft>
                <a:spcPct val="0"/>
              </a:spcAft>
            </a:pPr>
            <a:r>
              <a:rPr lang="en-US" altLang="en-US" dirty="0">
                <a:latin typeface="Arial" panose="020B0604020202020204" pitchFamily="34" charset="0"/>
              </a:rPr>
              <a:t>18.  Results &amp; Observations</a:t>
            </a:r>
          </a:p>
          <a:p>
            <a:pPr lvl="0" eaLnBrk="0" fontAlgn="base" hangingPunct="0">
              <a:spcBef>
                <a:spcPct val="0"/>
              </a:spcBef>
              <a:spcAft>
                <a:spcPct val="0"/>
              </a:spcAft>
            </a:pPr>
            <a:r>
              <a:rPr lang="en-US" altLang="en-US" dirty="0">
                <a:latin typeface="Arial" panose="020B0604020202020204" pitchFamily="34" charset="0"/>
              </a:rPr>
              <a:t>19.  Conclusion</a:t>
            </a:r>
          </a:p>
          <a:p>
            <a:pPr lvl="0" eaLnBrk="0" fontAlgn="base" hangingPunct="0">
              <a:spcBef>
                <a:spcPct val="0"/>
              </a:spcBef>
              <a:spcAft>
                <a:spcPct val="0"/>
              </a:spcAft>
            </a:pPr>
            <a:r>
              <a:rPr lang="en-US" altLang="en-US" dirty="0">
                <a:latin typeface="Arial" panose="020B0604020202020204" pitchFamily="34" charset="0"/>
              </a:rPr>
              <a:t>20.  Future Scope</a:t>
            </a:r>
            <a:endParaRPr lang="en-IN" dirty="0"/>
          </a:p>
        </p:txBody>
      </p:sp>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C1944AA-E86E-A356-500C-30B24EF22CAB}"/>
              </a:ext>
            </a:extLst>
          </p:cNvPr>
          <p:cNvSpPr>
            <a:spLocks noGrp="1"/>
          </p:cNvSpPr>
          <p:nvPr>
            <p:ph type="title"/>
          </p:nvPr>
        </p:nvSpPr>
        <p:spPr>
          <a:xfrm>
            <a:off x="841247" y="-130172"/>
            <a:ext cx="5805360" cy="1555849"/>
          </a:xfrm>
        </p:spPr>
        <p:txBody>
          <a:bodyPr/>
          <a:lstStyle/>
          <a:p>
            <a:r>
              <a:rPr lang="en-US" dirty="0"/>
              <a:t>Introduction</a:t>
            </a:r>
          </a:p>
        </p:txBody>
      </p:sp>
      <p:sp>
        <p:nvSpPr>
          <p:cNvPr id="9" name="Content Placeholder 2">
            <a:extLst>
              <a:ext uri="{FF2B5EF4-FFF2-40B4-BE49-F238E27FC236}">
                <a16:creationId xmlns:a16="http://schemas.microsoft.com/office/drawing/2014/main" id="{328D03B8-7835-C48F-6955-A72133B8163C}"/>
              </a:ext>
            </a:extLst>
          </p:cNvPr>
          <p:cNvSpPr txBox="1">
            <a:spLocks/>
          </p:cNvSpPr>
          <p:nvPr/>
        </p:nvSpPr>
        <p:spPr>
          <a:xfrm>
            <a:off x="731669" y="1637919"/>
            <a:ext cx="5914938" cy="14081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buSzPts val="1000"/>
              <a:tabLst>
                <a:tab pos="4572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Rapid urbanization has increased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city infrastructure issues</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such as potholes, garbage overflow, and streetlight failures.</a:t>
            </a:r>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Footer Placeholder 81">
            <a:extLst>
              <a:ext uri="{FF2B5EF4-FFF2-40B4-BE49-F238E27FC236}">
                <a16:creationId xmlns:a16="http://schemas.microsoft.com/office/drawing/2014/main" id="{2C7B09E9-5F74-B6E9-5ABB-B17A85195F3C}"/>
              </a:ext>
            </a:extLst>
          </p:cNvPr>
          <p:cNvSpPr txBox="1">
            <a:spLocks/>
          </p:cNvSpPr>
          <p:nvPr/>
        </p:nvSpPr>
        <p:spPr>
          <a:xfrm>
            <a:off x="4038600" y="6429375"/>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SAMPLE FOOTER TEXT</a:t>
            </a:r>
            <a:endParaRPr lang="en-US" dirty="0"/>
          </a:p>
        </p:txBody>
      </p:sp>
      <p:sp>
        <p:nvSpPr>
          <p:cNvPr id="11" name="Slide Number Placeholder 17">
            <a:extLst>
              <a:ext uri="{FF2B5EF4-FFF2-40B4-BE49-F238E27FC236}">
                <a16:creationId xmlns:a16="http://schemas.microsoft.com/office/drawing/2014/main" id="{CF8A82FA-1285-6D40-02DB-2C2E20593505}"/>
              </a:ext>
            </a:extLst>
          </p:cNvPr>
          <p:cNvSpPr txBox="1">
            <a:spLocks/>
          </p:cNvSpPr>
          <p:nvPr/>
        </p:nvSpPr>
        <p:spPr>
          <a:xfrm>
            <a:off x="8610600" y="64293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pPr/>
              <a:t>3</a:t>
            </a:fld>
            <a:endParaRPr lang="en-US"/>
          </a:p>
        </p:txBody>
      </p:sp>
      <p:sp>
        <p:nvSpPr>
          <p:cNvPr id="12" name="Content Placeholder 2">
            <a:extLst>
              <a:ext uri="{FF2B5EF4-FFF2-40B4-BE49-F238E27FC236}">
                <a16:creationId xmlns:a16="http://schemas.microsoft.com/office/drawing/2014/main" id="{0E0574DC-A1A2-A549-0882-8956FD8BE0BB}"/>
              </a:ext>
            </a:extLst>
          </p:cNvPr>
          <p:cNvSpPr txBox="1">
            <a:spLocks/>
          </p:cNvSpPr>
          <p:nvPr/>
        </p:nvSpPr>
        <p:spPr>
          <a:xfrm>
            <a:off x="969066" y="2897505"/>
            <a:ext cx="6666993" cy="257022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Clr>
                <a:schemeClr val="tx2">
                  <a:lumMod val="10000"/>
                  <a:lumOff val="90000"/>
                </a:schemeClr>
              </a:buClr>
              <a:buSzPct val="80000"/>
              <a:buFont typeface="Wingdings" panose="05000000000000000000" pitchFamily="2" charset="2"/>
              <a:buNone/>
              <a:defRPr sz="20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07000"/>
              </a:lnSpc>
              <a:spcAft>
                <a:spcPts val="800"/>
              </a:spcAft>
              <a:buSzPts val="1000"/>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Traditional complaint systems are mostly: Manual</a:t>
            </a:r>
            <a:r>
              <a:rPr lang="en-IN" sz="1800" dirty="0">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Slow to respond</a:t>
            </a:r>
            <a:r>
              <a:rPr lang="en-IN" sz="1800" dirty="0">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Poorly categorized</a:t>
            </a:r>
            <a:r>
              <a:rPr lang="en-IN" sz="1800" dirty="0">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Lack transparency</a:t>
            </a:r>
          </a:p>
          <a:p>
            <a:pPr lvl="0">
              <a:lnSpc>
                <a:spcPct val="107000"/>
              </a:lnSpc>
              <a:spcAft>
                <a:spcPts val="800"/>
              </a:spcAft>
              <a:buSzPts val="1000"/>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Citizens often face: Delayed resolutions, No real-time tracking, Repeated duplicate complaints</a:t>
            </a:r>
          </a:p>
          <a:p>
            <a:pPr lvl="0">
              <a:lnSpc>
                <a:spcPct val="107000"/>
              </a:lnSpc>
              <a:spcAft>
                <a:spcPts val="800"/>
              </a:spcAft>
              <a:buSzPts val="1000"/>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Municipal departments struggle with: Issue prioritization, Resource allocation, Workload management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691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D19D06B-7A91-E39B-01F3-EF7E75F2979C}"/>
              </a:ext>
            </a:extLst>
          </p:cNvPr>
          <p:cNvSpPr txBox="1"/>
          <p:nvPr/>
        </p:nvSpPr>
        <p:spPr>
          <a:xfrm>
            <a:off x="769373" y="736796"/>
            <a:ext cx="4943170" cy="3139321"/>
          </a:xfrm>
          <a:prstGeom prst="rect">
            <a:avLst/>
          </a:prstGeom>
          <a:noFill/>
        </p:spPr>
        <p:txBody>
          <a:bodyPr wrap="square">
            <a:spAutoFit/>
          </a:bodyPr>
          <a:lstStyle/>
          <a:p>
            <a:pPr>
              <a:buNone/>
            </a:pPr>
            <a:r>
              <a:rPr lang="en-GB" b="1" dirty="0"/>
              <a:t>Key Motivation</a:t>
            </a:r>
          </a:p>
          <a:p>
            <a:pPr>
              <a:buFont typeface="Arial" panose="020B0604020202020204" pitchFamily="34" charset="0"/>
              <a:buChar char="•"/>
            </a:pPr>
            <a:r>
              <a:rPr lang="en-GB" dirty="0"/>
              <a:t>Increasing number of unresolved urban complaints</a:t>
            </a:r>
          </a:p>
          <a:p>
            <a:pPr>
              <a:buFont typeface="Arial" panose="020B0604020202020204" pitchFamily="34" charset="0"/>
              <a:buChar char="•"/>
            </a:pPr>
            <a:r>
              <a:rPr lang="en-GB" dirty="0"/>
              <a:t>Lack of real-time tracking and accountability</a:t>
            </a:r>
          </a:p>
          <a:p>
            <a:pPr>
              <a:buFont typeface="Arial" panose="020B0604020202020204" pitchFamily="34" charset="0"/>
              <a:buChar char="•"/>
            </a:pPr>
            <a:r>
              <a:rPr lang="en-GB" dirty="0"/>
              <a:t>No automated prioritization mechanism</a:t>
            </a:r>
          </a:p>
          <a:p>
            <a:pPr>
              <a:buFont typeface="Arial" panose="020B0604020202020204" pitchFamily="34" charset="0"/>
              <a:buChar char="•"/>
            </a:pPr>
            <a:r>
              <a:rPr lang="en-GB" dirty="0"/>
              <a:t>Need for smart governance solutions</a:t>
            </a:r>
          </a:p>
          <a:p>
            <a:endParaRPr lang="en-GB" dirty="0"/>
          </a:p>
          <a:p>
            <a:pPr>
              <a:buNone/>
            </a:pPr>
            <a:r>
              <a:rPr lang="en-GB" b="1" dirty="0"/>
              <a:t>Project Vision</a:t>
            </a:r>
          </a:p>
          <a:p>
            <a:pPr>
              <a:buNone/>
            </a:pPr>
            <a:r>
              <a:rPr lang="en-GB" dirty="0"/>
              <a:t>To create a </a:t>
            </a:r>
            <a:r>
              <a:rPr lang="en-GB" b="1" dirty="0"/>
              <a:t>centralized, intelligent, and transparent platform</a:t>
            </a:r>
            <a:r>
              <a:rPr lang="en-GB" dirty="0"/>
              <a:t> that bridges the gap between citizens and city authorities using Artificial Intelligence and data-driven decision making.</a:t>
            </a:r>
          </a:p>
        </p:txBody>
      </p:sp>
      <p:sp>
        <p:nvSpPr>
          <p:cNvPr id="7" name="TextBox 6">
            <a:extLst>
              <a:ext uri="{FF2B5EF4-FFF2-40B4-BE49-F238E27FC236}">
                <a16:creationId xmlns:a16="http://schemas.microsoft.com/office/drawing/2014/main" id="{F7965722-942E-FE96-A857-A828E0BDAFD0}"/>
              </a:ext>
            </a:extLst>
          </p:cNvPr>
          <p:cNvSpPr txBox="1"/>
          <p:nvPr/>
        </p:nvSpPr>
        <p:spPr>
          <a:xfrm>
            <a:off x="7079226" y="2561353"/>
            <a:ext cx="4446233" cy="2308324"/>
          </a:xfrm>
          <a:prstGeom prst="rect">
            <a:avLst/>
          </a:prstGeom>
          <a:noFill/>
        </p:spPr>
        <p:txBody>
          <a:bodyPr wrap="square">
            <a:spAutoFit/>
          </a:bodyPr>
          <a:lstStyle/>
          <a:p>
            <a:pPr>
              <a:buNone/>
            </a:pPr>
            <a:r>
              <a:rPr lang="en-GB" b="1" dirty="0"/>
              <a:t>Industry Alignment</a:t>
            </a:r>
          </a:p>
          <a:p>
            <a:pPr>
              <a:buNone/>
            </a:pPr>
            <a:r>
              <a:rPr lang="en-GB" dirty="0"/>
              <a:t>The project follows practices used by:</a:t>
            </a:r>
          </a:p>
          <a:p>
            <a:pPr>
              <a:buFont typeface="Arial" panose="020B0604020202020204" pitchFamily="34" charset="0"/>
              <a:buChar char="•"/>
            </a:pPr>
            <a:r>
              <a:rPr lang="en-GB" dirty="0"/>
              <a:t>Municipal E-Governance Systems</a:t>
            </a:r>
          </a:p>
          <a:p>
            <a:pPr>
              <a:buFont typeface="Arial" panose="020B0604020202020204" pitchFamily="34" charset="0"/>
              <a:buChar char="•"/>
            </a:pPr>
            <a:r>
              <a:rPr lang="en-GB" dirty="0"/>
              <a:t>Smart Infrastructure Management Platforms</a:t>
            </a:r>
          </a:p>
          <a:p>
            <a:pPr>
              <a:buFont typeface="Arial" panose="020B0604020202020204" pitchFamily="34" charset="0"/>
              <a:buChar char="•"/>
            </a:pPr>
            <a:r>
              <a:rPr lang="en-GB" dirty="0"/>
              <a:t>AI-based Decision Support Systems</a:t>
            </a:r>
          </a:p>
          <a:p>
            <a:pPr>
              <a:buFont typeface="Arial" panose="020B0604020202020204" pitchFamily="34" charset="0"/>
              <a:buChar char="•"/>
            </a:pPr>
            <a:endParaRPr lang="en-GB" dirty="0"/>
          </a:p>
          <a:p>
            <a:pPr>
              <a:buFont typeface="Arial" panose="020B0604020202020204" pitchFamily="34" charset="0"/>
              <a:buChar char="•"/>
            </a:pPr>
            <a:endParaRPr lang="en-GB" dirty="0"/>
          </a:p>
          <a:p>
            <a:pPr>
              <a:buNone/>
            </a:pPr>
            <a:endParaRPr lang="en-GB" dirty="0"/>
          </a:p>
        </p:txBody>
      </p:sp>
      <p:sp>
        <p:nvSpPr>
          <p:cNvPr id="8" name="TextBox 7">
            <a:extLst>
              <a:ext uri="{FF2B5EF4-FFF2-40B4-BE49-F238E27FC236}">
                <a16:creationId xmlns:a16="http://schemas.microsoft.com/office/drawing/2014/main" id="{FD0F6BEF-63AA-06C5-829E-6CAD75621E18}"/>
              </a:ext>
            </a:extLst>
          </p:cNvPr>
          <p:cNvSpPr txBox="1"/>
          <p:nvPr/>
        </p:nvSpPr>
        <p:spPr>
          <a:xfrm>
            <a:off x="7177548" y="673559"/>
            <a:ext cx="6096000" cy="1754326"/>
          </a:xfrm>
          <a:prstGeom prst="rect">
            <a:avLst/>
          </a:prstGeom>
          <a:noFill/>
        </p:spPr>
        <p:txBody>
          <a:bodyPr wrap="square">
            <a:spAutoFit/>
          </a:bodyPr>
          <a:lstStyle/>
          <a:p>
            <a:pPr>
              <a:buNone/>
            </a:pPr>
            <a:r>
              <a:rPr lang="en-GB" b="1" dirty="0"/>
              <a:t>Why This Project Is Industry-Ready</a:t>
            </a:r>
          </a:p>
          <a:p>
            <a:pPr>
              <a:buFont typeface="Arial" panose="020B0604020202020204" pitchFamily="34" charset="0"/>
              <a:buChar char="•"/>
            </a:pPr>
            <a:r>
              <a:rPr lang="en-GB" dirty="0"/>
              <a:t>Uses scalable AI models</a:t>
            </a:r>
          </a:p>
          <a:p>
            <a:pPr>
              <a:buFont typeface="Arial" panose="020B0604020202020204" pitchFamily="34" charset="0"/>
              <a:buChar char="•"/>
            </a:pPr>
            <a:r>
              <a:rPr lang="en-GB" dirty="0"/>
              <a:t>Supports real-time data processing</a:t>
            </a:r>
          </a:p>
          <a:p>
            <a:pPr>
              <a:buFont typeface="Arial" panose="020B0604020202020204" pitchFamily="34" charset="0"/>
              <a:buChar char="•"/>
            </a:pPr>
            <a:r>
              <a:rPr lang="en-GB" dirty="0"/>
              <a:t>Modular system architecture</a:t>
            </a:r>
          </a:p>
          <a:p>
            <a:pPr>
              <a:buFont typeface="Arial" panose="020B0604020202020204" pitchFamily="34" charset="0"/>
              <a:buChar char="•"/>
            </a:pPr>
            <a:r>
              <a:rPr lang="en-GB" dirty="0"/>
              <a:t>Cloud deployment compatibility</a:t>
            </a:r>
          </a:p>
          <a:p>
            <a:pPr>
              <a:buFont typeface="Arial" panose="020B0604020202020204" pitchFamily="34" charset="0"/>
              <a:buChar char="•"/>
            </a:pPr>
            <a:r>
              <a:rPr lang="en-GB" dirty="0"/>
              <a:t>Mobile and web platform support</a:t>
            </a:r>
            <a:endParaRPr lang="en-IN" dirty="0"/>
          </a:p>
        </p:txBody>
      </p:sp>
      <p:sp>
        <p:nvSpPr>
          <p:cNvPr id="10" name="TextBox 9">
            <a:extLst>
              <a:ext uri="{FF2B5EF4-FFF2-40B4-BE49-F238E27FC236}">
                <a16:creationId xmlns:a16="http://schemas.microsoft.com/office/drawing/2014/main" id="{19EFDDCE-7916-8E11-E5A6-7B1BDE73798B}"/>
              </a:ext>
            </a:extLst>
          </p:cNvPr>
          <p:cNvSpPr txBox="1"/>
          <p:nvPr/>
        </p:nvSpPr>
        <p:spPr>
          <a:xfrm>
            <a:off x="769373" y="3876117"/>
            <a:ext cx="7737230" cy="2308324"/>
          </a:xfrm>
          <a:prstGeom prst="rect">
            <a:avLst/>
          </a:prstGeom>
          <a:noFill/>
        </p:spPr>
        <p:txBody>
          <a:bodyPr wrap="square">
            <a:spAutoFit/>
          </a:bodyPr>
          <a:lstStyle/>
          <a:p>
            <a:endParaRPr lang="en-GB" dirty="0"/>
          </a:p>
          <a:p>
            <a:pPr>
              <a:buNone/>
            </a:pPr>
            <a:r>
              <a:rPr lang="en-GB" b="1" dirty="0"/>
              <a:t>Real-World Applications</a:t>
            </a:r>
          </a:p>
          <a:p>
            <a:pPr>
              <a:buNone/>
            </a:pPr>
            <a:r>
              <a:rPr lang="en-GB" dirty="0"/>
              <a:t>CityTrack can be deployed in:</a:t>
            </a:r>
          </a:p>
          <a:p>
            <a:pPr>
              <a:buFont typeface="Arial" panose="020B0604020202020204" pitchFamily="34" charset="0"/>
              <a:buChar char="•"/>
            </a:pPr>
            <a:r>
              <a:rPr lang="en-GB" dirty="0"/>
              <a:t>Municipal Corporations</a:t>
            </a:r>
          </a:p>
          <a:p>
            <a:pPr>
              <a:buFont typeface="Arial" panose="020B0604020202020204" pitchFamily="34" charset="0"/>
              <a:buChar char="•"/>
            </a:pPr>
            <a:r>
              <a:rPr lang="en-GB" dirty="0"/>
              <a:t>Smart City Mission Projects</a:t>
            </a:r>
          </a:p>
          <a:p>
            <a:pPr>
              <a:buFont typeface="Arial" panose="020B0604020202020204" pitchFamily="34" charset="0"/>
              <a:buChar char="•"/>
            </a:pPr>
            <a:r>
              <a:rPr lang="en-GB" dirty="0"/>
              <a:t>University Campus Management</a:t>
            </a:r>
          </a:p>
          <a:p>
            <a:pPr>
              <a:buFont typeface="Arial" panose="020B0604020202020204" pitchFamily="34" charset="0"/>
              <a:buChar char="•"/>
            </a:pPr>
            <a:r>
              <a:rPr lang="en-GB" dirty="0"/>
              <a:t>Township Management Systems</a:t>
            </a:r>
          </a:p>
          <a:p>
            <a:pPr>
              <a:buFont typeface="Arial" panose="020B0604020202020204" pitchFamily="34" charset="0"/>
              <a:buChar char="•"/>
            </a:pPr>
            <a:r>
              <a:rPr lang="en-GB" dirty="0"/>
              <a:t>Corporate Facility Maintenance</a:t>
            </a:r>
          </a:p>
        </p:txBody>
      </p:sp>
    </p:spTree>
    <p:extLst>
      <p:ext uri="{BB962C8B-B14F-4D97-AF65-F5344CB8AC3E}">
        <p14:creationId xmlns:p14="http://schemas.microsoft.com/office/powerpoint/2010/main" val="2411083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7407412-4912-AD25-7969-F8AA4B19F2A0}"/>
              </a:ext>
            </a:extLst>
          </p:cNvPr>
          <p:cNvSpPr>
            <a:spLocks noGrp="1"/>
          </p:cNvSpPr>
          <p:nvPr>
            <p:ph type="title"/>
          </p:nvPr>
        </p:nvSpPr>
        <p:spPr>
          <a:xfrm>
            <a:off x="841246" y="-130172"/>
            <a:ext cx="5914938" cy="1213537"/>
          </a:xfrm>
        </p:spPr>
        <p:txBody>
          <a:bodyPr/>
          <a:lstStyle/>
          <a:p>
            <a:r>
              <a:rPr lang="en-US" dirty="0"/>
              <a:t>Literature Review</a:t>
            </a:r>
          </a:p>
        </p:txBody>
      </p:sp>
      <p:sp>
        <p:nvSpPr>
          <p:cNvPr id="12" name="TextBox 11">
            <a:extLst>
              <a:ext uri="{FF2B5EF4-FFF2-40B4-BE49-F238E27FC236}">
                <a16:creationId xmlns:a16="http://schemas.microsoft.com/office/drawing/2014/main" id="{387E4238-538D-6CAE-59F0-E0A00A6D5FB3}"/>
              </a:ext>
            </a:extLst>
          </p:cNvPr>
          <p:cNvSpPr txBox="1"/>
          <p:nvPr/>
        </p:nvSpPr>
        <p:spPr>
          <a:xfrm>
            <a:off x="280219" y="1397675"/>
            <a:ext cx="6125496" cy="2031325"/>
          </a:xfrm>
          <a:prstGeom prst="rect">
            <a:avLst/>
          </a:prstGeom>
          <a:noFill/>
        </p:spPr>
        <p:txBody>
          <a:bodyPr wrap="square">
            <a:spAutoFit/>
          </a:bodyPr>
          <a:lstStyle/>
          <a:p>
            <a:pPr>
              <a:buNone/>
            </a:pPr>
            <a:r>
              <a:rPr lang="en-IN" b="1" dirty="0"/>
              <a:t>1. Kumar et al. (2021)</a:t>
            </a:r>
          </a:p>
          <a:p>
            <a:pPr>
              <a:buNone/>
            </a:pPr>
            <a:r>
              <a:rPr lang="en-IN" b="1" dirty="0"/>
              <a:t>Title:</a:t>
            </a:r>
            <a:r>
              <a:rPr lang="en-IN" dirty="0"/>
              <a:t> </a:t>
            </a:r>
            <a:r>
              <a:rPr lang="en-IN" i="1" dirty="0"/>
              <a:t>Machine Learning Based Smart Complaint Management System</a:t>
            </a:r>
            <a:br>
              <a:rPr lang="en-IN" dirty="0"/>
            </a:br>
            <a:r>
              <a:rPr lang="en-IN" b="1" dirty="0"/>
              <a:t>Journal:</a:t>
            </a:r>
            <a:r>
              <a:rPr lang="en-IN" dirty="0"/>
              <a:t> IEEE Smart Cities Conference</a:t>
            </a:r>
            <a:br>
              <a:rPr lang="en-IN" dirty="0"/>
            </a:br>
            <a:r>
              <a:rPr lang="en-IN" b="1" dirty="0"/>
              <a:t>Contribution:</a:t>
            </a:r>
            <a:r>
              <a:rPr lang="en-IN" dirty="0"/>
              <a:t> Automated complaint classification</a:t>
            </a:r>
            <a:br>
              <a:rPr lang="en-IN" dirty="0"/>
            </a:br>
            <a:r>
              <a:rPr lang="en-IN" b="1" dirty="0"/>
              <a:t>Limitation:</a:t>
            </a:r>
            <a:r>
              <a:rPr lang="en-IN" dirty="0"/>
              <a:t> No image analysis</a:t>
            </a:r>
            <a:br>
              <a:rPr lang="en-IN" dirty="0"/>
            </a:br>
            <a:r>
              <a:rPr lang="en-IN" b="1" dirty="0"/>
              <a:t>Relevance:</a:t>
            </a:r>
            <a:r>
              <a:rPr lang="en-IN" dirty="0"/>
              <a:t> </a:t>
            </a:r>
            <a:r>
              <a:rPr lang="en-IN" dirty="0" err="1"/>
              <a:t>CityTrack</a:t>
            </a:r>
            <a:r>
              <a:rPr lang="en-IN" dirty="0"/>
              <a:t> uses multimodal AI (text + image)</a:t>
            </a:r>
          </a:p>
        </p:txBody>
      </p:sp>
      <p:sp>
        <p:nvSpPr>
          <p:cNvPr id="16" name="TextBox 15">
            <a:extLst>
              <a:ext uri="{FF2B5EF4-FFF2-40B4-BE49-F238E27FC236}">
                <a16:creationId xmlns:a16="http://schemas.microsoft.com/office/drawing/2014/main" id="{869441A1-AD3E-CEDD-1EAE-B22D509493C0}"/>
              </a:ext>
            </a:extLst>
          </p:cNvPr>
          <p:cNvSpPr txBox="1"/>
          <p:nvPr/>
        </p:nvSpPr>
        <p:spPr>
          <a:xfrm>
            <a:off x="6405715" y="1477578"/>
            <a:ext cx="6125496" cy="2031325"/>
          </a:xfrm>
          <a:prstGeom prst="rect">
            <a:avLst/>
          </a:prstGeom>
          <a:noFill/>
        </p:spPr>
        <p:txBody>
          <a:bodyPr wrap="square">
            <a:spAutoFit/>
          </a:bodyPr>
          <a:lstStyle/>
          <a:p>
            <a:pPr>
              <a:buNone/>
            </a:pPr>
            <a:r>
              <a:rPr lang="en-IN" b="1" dirty="0"/>
              <a:t>2. Zhang et al. (2020)</a:t>
            </a:r>
          </a:p>
          <a:p>
            <a:pPr>
              <a:buNone/>
            </a:pPr>
            <a:r>
              <a:rPr lang="en-IN" b="1" dirty="0"/>
              <a:t>Title:</a:t>
            </a:r>
            <a:r>
              <a:rPr lang="en-IN" dirty="0"/>
              <a:t> </a:t>
            </a:r>
            <a:r>
              <a:rPr lang="en-IN" i="1" dirty="0"/>
              <a:t>Deep Learning Framework for Urban Road Damage Detection</a:t>
            </a:r>
            <a:br>
              <a:rPr lang="en-IN" dirty="0"/>
            </a:br>
            <a:r>
              <a:rPr lang="en-IN" b="1" dirty="0"/>
              <a:t>Journal:</a:t>
            </a:r>
            <a:r>
              <a:rPr lang="en-IN" dirty="0"/>
              <a:t> Elsevier – Future Generation Computer Systems</a:t>
            </a:r>
            <a:br>
              <a:rPr lang="en-IN" dirty="0"/>
            </a:br>
            <a:r>
              <a:rPr lang="en-IN" b="1" dirty="0"/>
              <a:t>Contribution:</a:t>
            </a:r>
            <a:r>
              <a:rPr lang="en-IN" dirty="0"/>
              <a:t> CNN-based pothole and garbage detection</a:t>
            </a:r>
            <a:br>
              <a:rPr lang="en-IN" dirty="0"/>
            </a:br>
            <a:r>
              <a:rPr lang="en-IN" b="1" dirty="0"/>
              <a:t>Limitation:</a:t>
            </a:r>
            <a:r>
              <a:rPr lang="en-IN" dirty="0"/>
              <a:t> Text complaints ignored</a:t>
            </a:r>
            <a:br>
              <a:rPr lang="en-IN" dirty="0"/>
            </a:br>
            <a:r>
              <a:rPr lang="en-IN" b="1" dirty="0"/>
              <a:t>Relevance:</a:t>
            </a:r>
            <a:r>
              <a:rPr lang="en-IN" dirty="0"/>
              <a:t> </a:t>
            </a:r>
            <a:r>
              <a:rPr lang="en-IN" dirty="0" err="1"/>
              <a:t>CityTrack</a:t>
            </a:r>
            <a:r>
              <a:rPr lang="en-IN" dirty="0"/>
              <a:t> integrates visual + textual inputs</a:t>
            </a:r>
          </a:p>
        </p:txBody>
      </p:sp>
      <p:sp>
        <p:nvSpPr>
          <p:cNvPr id="20" name="TextBox 19">
            <a:extLst>
              <a:ext uri="{FF2B5EF4-FFF2-40B4-BE49-F238E27FC236}">
                <a16:creationId xmlns:a16="http://schemas.microsoft.com/office/drawing/2014/main" id="{29E6DF1E-EE30-D001-E306-8AA0F90FB9D8}"/>
              </a:ext>
            </a:extLst>
          </p:cNvPr>
          <p:cNvSpPr txBox="1"/>
          <p:nvPr/>
        </p:nvSpPr>
        <p:spPr>
          <a:xfrm>
            <a:off x="280219" y="4364760"/>
            <a:ext cx="6125496" cy="1754326"/>
          </a:xfrm>
          <a:prstGeom prst="rect">
            <a:avLst/>
          </a:prstGeom>
          <a:noFill/>
        </p:spPr>
        <p:txBody>
          <a:bodyPr wrap="square">
            <a:spAutoFit/>
          </a:bodyPr>
          <a:lstStyle/>
          <a:p>
            <a:pPr>
              <a:buNone/>
            </a:pPr>
            <a:r>
              <a:rPr lang="en-IN" b="1" dirty="0"/>
              <a:t>3. Li et al. (2022)</a:t>
            </a:r>
          </a:p>
          <a:p>
            <a:pPr>
              <a:buNone/>
            </a:pPr>
            <a:r>
              <a:rPr lang="en-IN" b="1" dirty="0"/>
              <a:t>Title:</a:t>
            </a:r>
            <a:r>
              <a:rPr lang="en-IN" dirty="0"/>
              <a:t> </a:t>
            </a:r>
            <a:r>
              <a:rPr lang="en-IN" i="1" dirty="0"/>
              <a:t>Multimodal Learning for Intelligent Urban Monitoring</a:t>
            </a:r>
            <a:br>
              <a:rPr lang="en-IN" dirty="0"/>
            </a:br>
            <a:r>
              <a:rPr lang="en-IN" b="1" dirty="0"/>
              <a:t>Journal:</a:t>
            </a:r>
            <a:r>
              <a:rPr lang="en-IN" dirty="0"/>
              <a:t> IEEE Transactions on Intelligent Transportation Systems</a:t>
            </a:r>
            <a:br>
              <a:rPr lang="en-IN" dirty="0"/>
            </a:br>
            <a:r>
              <a:rPr lang="en-IN" b="1" dirty="0"/>
              <a:t>Contribution:</a:t>
            </a:r>
            <a:r>
              <a:rPr lang="en-IN" dirty="0"/>
              <a:t> Improved classification using multimodal fusion</a:t>
            </a:r>
            <a:br>
              <a:rPr lang="en-IN" dirty="0"/>
            </a:br>
            <a:r>
              <a:rPr lang="en-IN" b="1" dirty="0"/>
              <a:t>Limitation:</a:t>
            </a:r>
            <a:r>
              <a:rPr lang="en-IN" dirty="0"/>
              <a:t> High computational complexity</a:t>
            </a:r>
            <a:br>
              <a:rPr lang="en-IN" dirty="0"/>
            </a:br>
            <a:r>
              <a:rPr lang="en-IN" b="1" dirty="0"/>
              <a:t>Relevance:</a:t>
            </a:r>
            <a:r>
              <a:rPr lang="en-IN" dirty="0"/>
              <a:t> </a:t>
            </a:r>
            <a:r>
              <a:rPr lang="en-IN" dirty="0" err="1"/>
              <a:t>CityTrack</a:t>
            </a:r>
            <a:r>
              <a:rPr lang="en-IN" dirty="0"/>
              <a:t> uses lightweight models for real-time use</a:t>
            </a:r>
          </a:p>
        </p:txBody>
      </p:sp>
      <p:sp>
        <p:nvSpPr>
          <p:cNvPr id="22" name="TextBox 21">
            <a:extLst>
              <a:ext uri="{FF2B5EF4-FFF2-40B4-BE49-F238E27FC236}">
                <a16:creationId xmlns:a16="http://schemas.microsoft.com/office/drawing/2014/main" id="{BF74753C-73C5-F6A4-C5C4-26048AE48C67}"/>
              </a:ext>
            </a:extLst>
          </p:cNvPr>
          <p:cNvSpPr txBox="1"/>
          <p:nvPr/>
        </p:nvSpPr>
        <p:spPr>
          <a:xfrm>
            <a:off x="6405715" y="4364759"/>
            <a:ext cx="6125496" cy="2031325"/>
          </a:xfrm>
          <a:prstGeom prst="rect">
            <a:avLst/>
          </a:prstGeom>
          <a:noFill/>
        </p:spPr>
        <p:txBody>
          <a:bodyPr wrap="square">
            <a:spAutoFit/>
          </a:bodyPr>
          <a:lstStyle/>
          <a:p>
            <a:pPr>
              <a:buNone/>
            </a:pPr>
            <a:r>
              <a:rPr lang="en-IN" b="1" dirty="0"/>
              <a:t>4. Fernandez et al. (2021)</a:t>
            </a:r>
          </a:p>
          <a:p>
            <a:pPr>
              <a:buNone/>
            </a:pPr>
            <a:r>
              <a:rPr lang="en-IN" b="1" dirty="0"/>
              <a:t>Title:</a:t>
            </a:r>
            <a:r>
              <a:rPr lang="en-IN" dirty="0"/>
              <a:t> </a:t>
            </a:r>
            <a:r>
              <a:rPr lang="en-IN" i="1" dirty="0"/>
              <a:t>AI-Based Severity Estimation for Road Infrastructure Damage</a:t>
            </a:r>
            <a:br>
              <a:rPr lang="en-IN" dirty="0"/>
            </a:br>
            <a:r>
              <a:rPr lang="en-IN" b="1" dirty="0"/>
              <a:t>Journal:</a:t>
            </a:r>
            <a:r>
              <a:rPr lang="en-IN" dirty="0"/>
              <a:t> Springer Smart Infrastructure</a:t>
            </a:r>
            <a:br>
              <a:rPr lang="en-IN" dirty="0"/>
            </a:br>
            <a:r>
              <a:rPr lang="en-IN" b="1" dirty="0"/>
              <a:t>Contribution:</a:t>
            </a:r>
            <a:r>
              <a:rPr lang="en-IN" dirty="0"/>
              <a:t> Severity scoring of road damages</a:t>
            </a:r>
            <a:br>
              <a:rPr lang="en-IN" dirty="0"/>
            </a:br>
            <a:r>
              <a:rPr lang="en-IN" b="1" dirty="0"/>
              <a:t>Limitation:</a:t>
            </a:r>
            <a:r>
              <a:rPr lang="en-IN" dirty="0"/>
              <a:t> Limited to road category</a:t>
            </a:r>
            <a:br>
              <a:rPr lang="en-IN" dirty="0"/>
            </a:br>
            <a:r>
              <a:rPr lang="en-IN" b="1" dirty="0"/>
              <a:t>Relevance:</a:t>
            </a:r>
            <a:r>
              <a:rPr lang="en-IN" dirty="0"/>
              <a:t> </a:t>
            </a:r>
            <a:r>
              <a:rPr lang="en-IN" dirty="0" err="1"/>
              <a:t>CityTrack</a:t>
            </a:r>
            <a:r>
              <a:rPr lang="en-IN" dirty="0"/>
              <a:t> supports multi-domain severity prediction</a:t>
            </a:r>
          </a:p>
        </p:txBody>
      </p:sp>
    </p:spTree>
    <p:extLst>
      <p:ext uri="{BB962C8B-B14F-4D97-AF65-F5344CB8AC3E}">
        <p14:creationId xmlns:p14="http://schemas.microsoft.com/office/powerpoint/2010/main" val="520000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1DEFC31D-A615-4366-290E-07AC751DD948}"/>
              </a:ext>
            </a:extLst>
          </p:cNvPr>
          <p:cNvSpPr txBox="1"/>
          <p:nvPr/>
        </p:nvSpPr>
        <p:spPr>
          <a:xfrm>
            <a:off x="235974" y="1226940"/>
            <a:ext cx="6096000" cy="1754326"/>
          </a:xfrm>
          <a:prstGeom prst="rect">
            <a:avLst/>
          </a:prstGeom>
          <a:noFill/>
        </p:spPr>
        <p:txBody>
          <a:bodyPr wrap="square">
            <a:spAutoFit/>
          </a:bodyPr>
          <a:lstStyle/>
          <a:p>
            <a:pPr>
              <a:buNone/>
            </a:pPr>
            <a:r>
              <a:rPr lang="en-IN" b="1" dirty="0"/>
              <a:t>5. Sharma et al. (2020)</a:t>
            </a:r>
          </a:p>
          <a:p>
            <a:pPr>
              <a:buNone/>
            </a:pPr>
            <a:r>
              <a:rPr lang="en-IN" b="1" dirty="0"/>
              <a:t>Title:</a:t>
            </a:r>
            <a:r>
              <a:rPr lang="en-IN" dirty="0"/>
              <a:t> </a:t>
            </a:r>
            <a:r>
              <a:rPr lang="en-IN" i="1" dirty="0"/>
              <a:t>Duplicate Detection in Location-Based Complaint Systems</a:t>
            </a:r>
            <a:br>
              <a:rPr lang="en-IN" dirty="0"/>
            </a:br>
            <a:r>
              <a:rPr lang="en-IN" b="1" dirty="0"/>
              <a:t>Journal:</a:t>
            </a:r>
            <a:r>
              <a:rPr lang="en-IN" dirty="0"/>
              <a:t> ACM SIGSPATIAL</a:t>
            </a:r>
            <a:br>
              <a:rPr lang="en-IN" dirty="0"/>
            </a:br>
            <a:r>
              <a:rPr lang="en-IN" b="1" dirty="0"/>
              <a:t>Contribution:</a:t>
            </a:r>
            <a:r>
              <a:rPr lang="en-IN" dirty="0"/>
              <a:t> GPS-based duplicate detection</a:t>
            </a:r>
            <a:br>
              <a:rPr lang="en-IN" dirty="0"/>
            </a:br>
            <a:r>
              <a:rPr lang="en-IN" b="1" dirty="0"/>
              <a:t>Limitation:</a:t>
            </a:r>
            <a:r>
              <a:rPr lang="en-IN" dirty="0"/>
              <a:t> High false positives</a:t>
            </a:r>
            <a:br>
              <a:rPr lang="en-IN" dirty="0"/>
            </a:br>
            <a:r>
              <a:rPr lang="en-IN" b="1" dirty="0"/>
              <a:t>Relevance:</a:t>
            </a:r>
            <a:r>
              <a:rPr lang="en-IN" dirty="0"/>
              <a:t> </a:t>
            </a:r>
            <a:r>
              <a:rPr lang="en-IN" dirty="0" err="1"/>
              <a:t>CityTrack</a:t>
            </a:r>
            <a:r>
              <a:rPr lang="en-IN" dirty="0"/>
              <a:t> adds semantic + image similarity</a:t>
            </a:r>
          </a:p>
        </p:txBody>
      </p:sp>
      <p:sp>
        <p:nvSpPr>
          <p:cNvPr id="16" name="TextBox 15">
            <a:extLst>
              <a:ext uri="{FF2B5EF4-FFF2-40B4-BE49-F238E27FC236}">
                <a16:creationId xmlns:a16="http://schemas.microsoft.com/office/drawing/2014/main" id="{4E8C4360-C399-42F9-36E9-9152E7089D79}"/>
              </a:ext>
            </a:extLst>
          </p:cNvPr>
          <p:cNvSpPr txBox="1"/>
          <p:nvPr/>
        </p:nvSpPr>
        <p:spPr>
          <a:xfrm>
            <a:off x="235974" y="3429000"/>
            <a:ext cx="6096000" cy="1754326"/>
          </a:xfrm>
          <a:prstGeom prst="rect">
            <a:avLst/>
          </a:prstGeom>
          <a:noFill/>
        </p:spPr>
        <p:txBody>
          <a:bodyPr wrap="square">
            <a:spAutoFit/>
          </a:bodyPr>
          <a:lstStyle/>
          <a:p>
            <a:pPr>
              <a:buNone/>
            </a:pPr>
            <a:r>
              <a:rPr lang="en-IN" b="1" dirty="0"/>
              <a:t>6. Patel &amp; Mehta (2021)</a:t>
            </a:r>
          </a:p>
          <a:p>
            <a:pPr>
              <a:buNone/>
            </a:pPr>
            <a:r>
              <a:rPr lang="en-IN" b="1" dirty="0"/>
              <a:t>Title:</a:t>
            </a:r>
            <a:r>
              <a:rPr lang="en-IN" dirty="0"/>
              <a:t> </a:t>
            </a:r>
            <a:r>
              <a:rPr lang="en-IN" i="1" dirty="0"/>
              <a:t>Citizen-Centric Digital Governance Platforms</a:t>
            </a:r>
            <a:br>
              <a:rPr lang="en-IN" dirty="0"/>
            </a:br>
            <a:r>
              <a:rPr lang="en-IN" b="1" dirty="0"/>
              <a:t>Journal:</a:t>
            </a:r>
            <a:r>
              <a:rPr lang="en-IN" dirty="0"/>
              <a:t> International Journal of E-Governance</a:t>
            </a:r>
            <a:br>
              <a:rPr lang="en-IN" dirty="0"/>
            </a:br>
            <a:r>
              <a:rPr lang="en-IN" b="1" dirty="0"/>
              <a:t>Contribution:</a:t>
            </a:r>
            <a:r>
              <a:rPr lang="en-IN" dirty="0"/>
              <a:t> Improved citizen engagement systems</a:t>
            </a:r>
            <a:br>
              <a:rPr lang="en-IN" dirty="0"/>
            </a:br>
            <a:r>
              <a:rPr lang="en-IN" b="1" dirty="0"/>
              <a:t>Limitation:</a:t>
            </a:r>
            <a:r>
              <a:rPr lang="en-IN" dirty="0"/>
              <a:t> Manual processing</a:t>
            </a:r>
            <a:br>
              <a:rPr lang="en-IN" dirty="0"/>
            </a:br>
            <a:r>
              <a:rPr lang="en-IN" b="1" dirty="0"/>
              <a:t>Relevance:</a:t>
            </a:r>
            <a:r>
              <a:rPr lang="en-IN" dirty="0"/>
              <a:t> </a:t>
            </a:r>
            <a:r>
              <a:rPr lang="en-IN" dirty="0" err="1"/>
              <a:t>CityTrack</a:t>
            </a:r>
            <a:r>
              <a:rPr lang="en-IN" dirty="0"/>
              <a:t> automates workflow using AI</a:t>
            </a:r>
          </a:p>
        </p:txBody>
      </p:sp>
      <p:sp>
        <p:nvSpPr>
          <p:cNvPr id="18" name="TextBox 17">
            <a:extLst>
              <a:ext uri="{FF2B5EF4-FFF2-40B4-BE49-F238E27FC236}">
                <a16:creationId xmlns:a16="http://schemas.microsoft.com/office/drawing/2014/main" id="{D0BA1E50-7693-F3E8-297B-693FBC376B84}"/>
              </a:ext>
            </a:extLst>
          </p:cNvPr>
          <p:cNvSpPr txBox="1"/>
          <p:nvPr/>
        </p:nvSpPr>
        <p:spPr>
          <a:xfrm>
            <a:off x="6223819" y="1226940"/>
            <a:ext cx="6096000" cy="1754326"/>
          </a:xfrm>
          <a:prstGeom prst="rect">
            <a:avLst/>
          </a:prstGeom>
          <a:noFill/>
        </p:spPr>
        <p:txBody>
          <a:bodyPr wrap="square">
            <a:spAutoFit/>
          </a:bodyPr>
          <a:lstStyle/>
          <a:p>
            <a:pPr>
              <a:buNone/>
            </a:pPr>
            <a:r>
              <a:rPr lang="en-IN" b="1" dirty="0"/>
              <a:t>7. Brown et al. (2022)</a:t>
            </a:r>
          </a:p>
          <a:p>
            <a:pPr>
              <a:buNone/>
            </a:pPr>
            <a:r>
              <a:rPr lang="en-IN" b="1" dirty="0"/>
              <a:t>Title:</a:t>
            </a:r>
            <a:r>
              <a:rPr lang="en-IN" dirty="0"/>
              <a:t> </a:t>
            </a:r>
            <a:r>
              <a:rPr lang="en-IN" i="1" dirty="0"/>
              <a:t>Continuous Learning Framework for Smart Applications</a:t>
            </a:r>
            <a:br>
              <a:rPr lang="en-IN" dirty="0"/>
            </a:br>
            <a:r>
              <a:rPr lang="en-IN" b="1" dirty="0"/>
              <a:t>Journal:</a:t>
            </a:r>
            <a:r>
              <a:rPr lang="en-IN" dirty="0"/>
              <a:t> IEEE Access</a:t>
            </a:r>
            <a:br>
              <a:rPr lang="en-IN" dirty="0"/>
            </a:br>
            <a:r>
              <a:rPr lang="en-IN" b="1" dirty="0"/>
              <a:t>Contribution:</a:t>
            </a:r>
            <a:r>
              <a:rPr lang="en-IN" dirty="0"/>
              <a:t> Automated retraining pipelines</a:t>
            </a:r>
            <a:br>
              <a:rPr lang="en-IN" dirty="0"/>
            </a:br>
            <a:r>
              <a:rPr lang="en-IN" b="1" dirty="0"/>
              <a:t>Limitation:</a:t>
            </a:r>
            <a:r>
              <a:rPr lang="en-IN" dirty="0"/>
              <a:t> Infrastructure complexity</a:t>
            </a:r>
            <a:br>
              <a:rPr lang="en-IN" dirty="0"/>
            </a:br>
            <a:r>
              <a:rPr lang="en-IN" b="1" dirty="0"/>
              <a:t>Relevance:</a:t>
            </a:r>
            <a:r>
              <a:rPr lang="en-IN" dirty="0"/>
              <a:t> </a:t>
            </a:r>
            <a:r>
              <a:rPr lang="en-IN" dirty="0" err="1"/>
              <a:t>CityTrack</a:t>
            </a:r>
            <a:r>
              <a:rPr lang="en-IN" dirty="0"/>
              <a:t> uses scheduled lightweight retraining</a:t>
            </a:r>
          </a:p>
        </p:txBody>
      </p:sp>
      <p:sp>
        <p:nvSpPr>
          <p:cNvPr id="20" name="TextBox 19">
            <a:extLst>
              <a:ext uri="{FF2B5EF4-FFF2-40B4-BE49-F238E27FC236}">
                <a16:creationId xmlns:a16="http://schemas.microsoft.com/office/drawing/2014/main" id="{3F211B6C-D530-2174-BD94-2855C2881EE6}"/>
              </a:ext>
            </a:extLst>
          </p:cNvPr>
          <p:cNvSpPr txBox="1"/>
          <p:nvPr/>
        </p:nvSpPr>
        <p:spPr>
          <a:xfrm>
            <a:off x="6243484" y="3517856"/>
            <a:ext cx="6159908" cy="1754326"/>
          </a:xfrm>
          <a:prstGeom prst="rect">
            <a:avLst/>
          </a:prstGeom>
          <a:noFill/>
        </p:spPr>
        <p:txBody>
          <a:bodyPr wrap="square">
            <a:spAutoFit/>
          </a:bodyPr>
          <a:lstStyle/>
          <a:p>
            <a:pPr>
              <a:buNone/>
            </a:pPr>
            <a:r>
              <a:rPr lang="en-IN" b="1" dirty="0"/>
              <a:t>8. Singh et al. (2021)</a:t>
            </a:r>
          </a:p>
          <a:p>
            <a:pPr>
              <a:buNone/>
            </a:pPr>
            <a:r>
              <a:rPr lang="en-IN" b="1" dirty="0"/>
              <a:t>Title:</a:t>
            </a:r>
            <a:r>
              <a:rPr lang="en-IN" dirty="0"/>
              <a:t> </a:t>
            </a:r>
            <a:r>
              <a:rPr lang="en-IN" i="1" dirty="0"/>
              <a:t>GIS-Based Urban Infrastructure Monitoring System</a:t>
            </a:r>
            <a:br>
              <a:rPr lang="en-IN" dirty="0"/>
            </a:br>
            <a:r>
              <a:rPr lang="en-IN" b="1" dirty="0"/>
              <a:t>Journal:</a:t>
            </a:r>
            <a:r>
              <a:rPr lang="en-IN" dirty="0"/>
              <a:t> Elsevier Sustainable Cities and Society</a:t>
            </a:r>
            <a:br>
              <a:rPr lang="en-IN" dirty="0"/>
            </a:br>
            <a:r>
              <a:rPr lang="en-IN" b="1" dirty="0"/>
              <a:t>Contribution:</a:t>
            </a:r>
            <a:r>
              <a:rPr lang="en-IN" dirty="0"/>
              <a:t> GIS-based urban issue mapping</a:t>
            </a:r>
            <a:br>
              <a:rPr lang="en-IN" dirty="0"/>
            </a:br>
            <a:r>
              <a:rPr lang="en-IN" b="1" dirty="0"/>
              <a:t>Limitation:</a:t>
            </a:r>
            <a:r>
              <a:rPr lang="en-IN" dirty="0"/>
              <a:t> No AI intelligence</a:t>
            </a:r>
            <a:br>
              <a:rPr lang="en-IN" dirty="0"/>
            </a:br>
            <a:r>
              <a:rPr lang="en-IN" b="1" dirty="0"/>
              <a:t>Relevance:</a:t>
            </a:r>
            <a:r>
              <a:rPr lang="en-IN" dirty="0"/>
              <a:t> </a:t>
            </a:r>
            <a:r>
              <a:rPr lang="en-IN" dirty="0" err="1"/>
              <a:t>CityTrack</a:t>
            </a:r>
            <a:r>
              <a:rPr lang="en-IN" dirty="0"/>
              <a:t> integrates GIS with AI decision making</a:t>
            </a:r>
          </a:p>
        </p:txBody>
      </p:sp>
    </p:spTree>
    <p:extLst>
      <p:ext uri="{BB962C8B-B14F-4D97-AF65-F5344CB8AC3E}">
        <p14:creationId xmlns:p14="http://schemas.microsoft.com/office/powerpoint/2010/main" val="423010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A4F65A9-11BC-6F66-B4E8-7D1E66638608}"/>
              </a:ext>
            </a:extLst>
          </p:cNvPr>
          <p:cNvSpPr txBox="1"/>
          <p:nvPr/>
        </p:nvSpPr>
        <p:spPr>
          <a:xfrm>
            <a:off x="776748" y="1344928"/>
            <a:ext cx="6096000" cy="1754326"/>
          </a:xfrm>
          <a:prstGeom prst="rect">
            <a:avLst/>
          </a:prstGeom>
          <a:noFill/>
        </p:spPr>
        <p:txBody>
          <a:bodyPr wrap="square">
            <a:spAutoFit/>
          </a:bodyPr>
          <a:lstStyle/>
          <a:p>
            <a:pPr>
              <a:buNone/>
            </a:pPr>
            <a:r>
              <a:rPr lang="en-IN" b="1" dirty="0"/>
              <a:t>9. Ahmed et al. (2020)</a:t>
            </a:r>
          </a:p>
          <a:p>
            <a:pPr>
              <a:buNone/>
            </a:pPr>
            <a:r>
              <a:rPr lang="en-IN" b="1" dirty="0"/>
              <a:t>Title:</a:t>
            </a:r>
            <a:r>
              <a:rPr lang="en-IN" dirty="0"/>
              <a:t> </a:t>
            </a:r>
            <a:r>
              <a:rPr lang="en-IN" i="1" dirty="0"/>
              <a:t>Mobile-Based Smart City Issue Reporting Platform</a:t>
            </a:r>
            <a:br>
              <a:rPr lang="en-IN" dirty="0"/>
            </a:br>
            <a:r>
              <a:rPr lang="en-IN" b="1" dirty="0"/>
              <a:t>Journal:</a:t>
            </a:r>
            <a:r>
              <a:rPr lang="en-IN" dirty="0"/>
              <a:t> IEEE Internet of Things Journal</a:t>
            </a:r>
            <a:br>
              <a:rPr lang="en-IN" dirty="0"/>
            </a:br>
            <a:r>
              <a:rPr lang="en-IN" b="1" dirty="0"/>
              <a:t>Contribution:</a:t>
            </a:r>
            <a:r>
              <a:rPr lang="en-IN" dirty="0"/>
              <a:t> Mobile civic reporting system</a:t>
            </a:r>
            <a:br>
              <a:rPr lang="en-IN" dirty="0"/>
            </a:br>
            <a:r>
              <a:rPr lang="en-IN" b="1" dirty="0"/>
              <a:t>Limitation:</a:t>
            </a:r>
            <a:r>
              <a:rPr lang="en-IN" dirty="0"/>
              <a:t> No severity prioritization</a:t>
            </a:r>
            <a:br>
              <a:rPr lang="en-IN" dirty="0"/>
            </a:br>
            <a:r>
              <a:rPr lang="en-IN" b="1" dirty="0"/>
              <a:t>Relevance:</a:t>
            </a:r>
            <a:r>
              <a:rPr lang="en-IN" dirty="0"/>
              <a:t> </a:t>
            </a:r>
            <a:r>
              <a:rPr lang="en-IN" dirty="0" err="1"/>
              <a:t>CityTrack</a:t>
            </a:r>
            <a:r>
              <a:rPr lang="en-IN" dirty="0"/>
              <a:t> adds AI-based priority scoring</a:t>
            </a:r>
          </a:p>
        </p:txBody>
      </p:sp>
      <p:sp>
        <p:nvSpPr>
          <p:cNvPr id="14" name="TextBox 13">
            <a:extLst>
              <a:ext uri="{FF2B5EF4-FFF2-40B4-BE49-F238E27FC236}">
                <a16:creationId xmlns:a16="http://schemas.microsoft.com/office/drawing/2014/main" id="{4581DD49-11E1-781A-A24D-BCD763041F72}"/>
              </a:ext>
            </a:extLst>
          </p:cNvPr>
          <p:cNvSpPr txBox="1"/>
          <p:nvPr/>
        </p:nvSpPr>
        <p:spPr>
          <a:xfrm>
            <a:off x="6430297" y="1344928"/>
            <a:ext cx="6096000" cy="1754326"/>
          </a:xfrm>
          <a:prstGeom prst="rect">
            <a:avLst/>
          </a:prstGeom>
          <a:noFill/>
        </p:spPr>
        <p:txBody>
          <a:bodyPr wrap="square">
            <a:spAutoFit/>
          </a:bodyPr>
          <a:lstStyle/>
          <a:p>
            <a:pPr>
              <a:buNone/>
            </a:pPr>
            <a:r>
              <a:rPr lang="en-IN" b="1" dirty="0"/>
              <a:t>10. Rao et al. (2022)</a:t>
            </a:r>
          </a:p>
          <a:p>
            <a:pPr>
              <a:buNone/>
            </a:pPr>
            <a:r>
              <a:rPr lang="en-IN" b="1" dirty="0"/>
              <a:t>Title:</a:t>
            </a:r>
            <a:r>
              <a:rPr lang="en-IN" dirty="0"/>
              <a:t> </a:t>
            </a:r>
            <a:r>
              <a:rPr lang="en-IN" i="1" dirty="0"/>
              <a:t>Data-Driven Optimization of Urban Services</a:t>
            </a:r>
            <a:br>
              <a:rPr lang="en-IN" dirty="0"/>
            </a:br>
            <a:r>
              <a:rPr lang="en-IN" b="1" dirty="0"/>
              <a:t>Journal:</a:t>
            </a:r>
            <a:r>
              <a:rPr lang="en-IN" dirty="0"/>
              <a:t> Springer Urban Computing</a:t>
            </a:r>
            <a:br>
              <a:rPr lang="en-IN" dirty="0"/>
            </a:br>
            <a:r>
              <a:rPr lang="en-IN" b="1" dirty="0"/>
              <a:t>Contribution:</a:t>
            </a:r>
            <a:r>
              <a:rPr lang="en-IN" dirty="0"/>
              <a:t> Analytics-driven service optimization</a:t>
            </a:r>
            <a:br>
              <a:rPr lang="en-IN" dirty="0"/>
            </a:br>
            <a:r>
              <a:rPr lang="en-IN" b="1" dirty="0"/>
              <a:t>Limitation:</a:t>
            </a:r>
            <a:r>
              <a:rPr lang="en-IN" dirty="0"/>
              <a:t> No citizen feedback integration</a:t>
            </a:r>
            <a:br>
              <a:rPr lang="en-IN" dirty="0"/>
            </a:br>
            <a:r>
              <a:rPr lang="en-IN" b="1" dirty="0"/>
              <a:t>Relevance:</a:t>
            </a:r>
            <a:r>
              <a:rPr lang="en-IN" dirty="0"/>
              <a:t> </a:t>
            </a:r>
            <a:r>
              <a:rPr lang="en-IN" dirty="0" err="1"/>
              <a:t>CityTrack</a:t>
            </a:r>
            <a:r>
              <a:rPr lang="en-IN" dirty="0"/>
              <a:t> combines citizen input with analytics</a:t>
            </a:r>
          </a:p>
        </p:txBody>
      </p:sp>
      <p:sp>
        <p:nvSpPr>
          <p:cNvPr id="16" name="TextBox 15">
            <a:extLst>
              <a:ext uri="{FF2B5EF4-FFF2-40B4-BE49-F238E27FC236}">
                <a16:creationId xmlns:a16="http://schemas.microsoft.com/office/drawing/2014/main" id="{2C5CD50A-FE96-723A-1A36-0A10F85D61D1}"/>
              </a:ext>
            </a:extLst>
          </p:cNvPr>
          <p:cNvSpPr txBox="1"/>
          <p:nvPr/>
        </p:nvSpPr>
        <p:spPr>
          <a:xfrm>
            <a:off x="776748" y="3928719"/>
            <a:ext cx="5574891" cy="1754326"/>
          </a:xfrm>
          <a:prstGeom prst="rect">
            <a:avLst/>
          </a:prstGeom>
          <a:noFill/>
        </p:spPr>
        <p:txBody>
          <a:bodyPr wrap="square">
            <a:spAutoFit/>
          </a:bodyPr>
          <a:lstStyle/>
          <a:p>
            <a:pPr>
              <a:buNone/>
            </a:pPr>
            <a:r>
              <a:rPr lang="en-GB" b="1" dirty="0"/>
              <a:t>Research Gap</a:t>
            </a:r>
          </a:p>
          <a:p>
            <a:pPr>
              <a:buFont typeface="Arial" panose="020B0604020202020204" pitchFamily="34" charset="0"/>
              <a:buChar char="•"/>
            </a:pPr>
            <a:r>
              <a:rPr lang="en-GB" dirty="0"/>
              <a:t>No complete end-to-end AI civic management system</a:t>
            </a:r>
          </a:p>
          <a:p>
            <a:pPr>
              <a:buFont typeface="Arial" panose="020B0604020202020204" pitchFamily="34" charset="0"/>
              <a:buChar char="•"/>
            </a:pPr>
            <a:r>
              <a:rPr lang="en-GB" dirty="0"/>
              <a:t>Limited multimodal complaint processing</a:t>
            </a:r>
          </a:p>
          <a:p>
            <a:pPr>
              <a:buFont typeface="Arial" panose="020B0604020202020204" pitchFamily="34" charset="0"/>
              <a:buChar char="•"/>
            </a:pPr>
            <a:r>
              <a:rPr lang="en-GB" dirty="0"/>
              <a:t>Lack of automated severity prioritization</a:t>
            </a:r>
          </a:p>
          <a:p>
            <a:pPr>
              <a:buFont typeface="Arial" panose="020B0604020202020204" pitchFamily="34" charset="0"/>
              <a:buChar char="•"/>
            </a:pPr>
            <a:r>
              <a:rPr lang="en-GB" dirty="0"/>
              <a:t>Weak duplicate handling mechanisms</a:t>
            </a:r>
          </a:p>
          <a:p>
            <a:pPr>
              <a:buFont typeface="Arial" panose="020B0604020202020204" pitchFamily="34" charset="0"/>
              <a:buChar char="•"/>
            </a:pPr>
            <a:r>
              <a:rPr lang="en-GB" dirty="0"/>
              <a:t>Minimal continuous learning integration</a:t>
            </a:r>
          </a:p>
        </p:txBody>
      </p:sp>
      <p:sp>
        <p:nvSpPr>
          <p:cNvPr id="18" name="TextBox 17">
            <a:extLst>
              <a:ext uri="{FF2B5EF4-FFF2-40B4-BE49-F238E27FC236}">
                <a16:creationId xmlns:a16="http://schemas.microsoft.com/office/drawing/2014/main" id="{473F786C-98ED-FB92-95BB-6CDBDBFFC921}"/>
              </a:ext>
            </a:extLst>
          </p:cNvPr>
          <p:cNvSpPr txBox="1"/>
          <p:nvPr/>
        </p:nvSpPr>
        <p:spPr>
          <a:xfrm>
            <a:off x="6563031" y="3928719"/>
            <a:ext cx="6096000" cy="1754326"/>
          </a:xfrm>
          <a:prstGeom prst="rect">
            <a:avLst/>
          </a:prstGeom>
          <a:noFill/>
        </p:spPr>
        <p:txBody>
          <a:bodyPr wrap="square">
            <a:spAutoFit/>
          </a:bodyPr>
          <a:lstStyle/>
          <a:p>
            <a:pPr>
              <a:buNone/>
            </a:pPr>
            <a:r>
              <a:rPr lang="en-GB" b="1" dirty="0"/>
              <a:t>CityTrack Contribution</a:t>
            </a:r>
          </a:p>
          <a:p>
            <a:pPr>
              <a:buFont typeface="Arial" panose="020B0604020202020204" pitchFamily="34" charset="0"/>
              <a:buChar char="•"/>
            </a:pPr>
            <a:r>
              <a:rPr lang="en-GB" dirty="0"/>
              <a:t>Multimodal AI-based complaint classification</a:t>
            </a:r>
          </a:p>
          <a:p>
            <a:pPr>
              <a:buFont typeface="Arial" panose="020B0604020202020204" pitchFamily="34" charset="0"/>
              <a:buChar char="•"/>
            </a:pPr>
            <a:r>
              <a:rPr lang="en-GB" dirty="0"/>
              <a:t>Automated severity scoring and prioritization</a:t>
            </a:r>
          </a:p>
          <a:p>
            <a:pPr>
              <a:buFont typeface="Arial" panose="020B0604020202020204" pitchFamily="34" charset="0"/>
              <a:buChar char="•"/>
            </a:pPr>
            <a:r>
              <a:rPr lang="en-GB" dirty="0"/>
              <a:t>Duplicate detection using semantic similarity</a:t>
            </a:r>
          </a:p>
          <a:p>
            <a:pPr>
              <a:buFont typeface="Arial" panose="020B0604020202020204" pitchFamily="34" charset="0"/>
              <a:buChar char="•"/>
            </a:pPr>
            <a:r>
              <a:rPr lang="en-GB" dirty="0"/>
              <a:t>Real-time tracking platform</a:t>
            </a:r>
          </a:p>
          <a:p>
            <a:pPr>
              <a:buFont typeface="Arial" panose="020B0604020202020204" pitchFamily="34" charset="0"/>
              <a:buChar char="•"/>
            </a:pPr>
            <a:r>
              <a:rPr lang="en-GB" dirty="0"/>
              <a:t>Continuous retraining pipeline</a:t>
            </a:r>
          </a:p>
        </p:txBody>
      </p:sp>
    </p:spTree>
    <p:extLst>
      <p:ext uri="{BB962C8B-B14F-4D97-AF65-F5344CB8AC3E}">
        <p14:creationId xmlns:p14="http://schemas.microsoft.com/office/powerpoint/2010/main" val="4132147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BB90D51-2D3E-C6D1-915D-276B79B081EE}"/>
              </a:ext>
            </a:extLst>
          </p:cNvPr>
          <p:cNvSpPr txBox="1">
            <a:spLocks/>
          </p:cNvSpPr>
          <p:nvPr/>
        </p:nvSpPr>
        <p:spPr>
          <a:xfrm>
            <a:off x="238977" y="1910736"/>
            <a:ext cx="5609906" cy="3632200"/>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7000"/>
              </a:lnSpc>
              <a:spcAft>
                <a:spcPts val="800"/>
              </a:spcAft>
              <a:buSzPts val="1000"/>
              <a:buFont typeface="Symbol" panose="05050102010706020507" pitchFamily="18" charset="2"/>
              <a:buChar char=""/>
              <a:tabLst>
                <a:tab pos="4572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Current urban complaint systems suffer from: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Manual categorization of issues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Inconsistent severity assessment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High response delays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Duplicate complaint flooding</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Symbol" panose="05050102010706020507" pitchFamily="18" charset="2"/>
              <a:buChar char=""/>
              <a:tabLst>
                <a:tab pos="4572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Municipal departments lack </a:t>
            </a:r>
            <a:r>
              <a:rPr lang="en-IN" b="1" dirty="0">
                <a:latin typeface="Times New Roman" panose="02020603050405020304" pitchFamily="18" charset="0"/>
                <a:ea typeface="Times New Roman" panose="02020603050405020304" pitchFamily="18" charset="0"/>
                <a:cs typeface="Times New Roman" panose="02020603050405020304" pitchFamily="18" charset="0"/>
              </a:rPr>
              <a:t>automated prioritization tools</a:t>
            </a:r>
            <a:r>
              <a:rPr lang="en-IN"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Symbol" panose="05050102010706020507" pitchFamily="18" charset="2"/>
              <a:buChar char=""/>
              <a:tabLst>
                <a:tab pos="45720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Citizens do not receive </a:t>
            </a:r>
            <a:r>
              <a:rPr lang="en-IN" b="1" dirty="0">
                <a:latin typeface="Times New Roman" panose="02020603050405020304" pitchFamily="18" charset="0"/>
                <a:ea typeface="Times New Roman" panose="02020603050405020304" pitchFamily="18" charset="0"/>
                <a:cs typeface="Times New Roman" panose="02020603050405020304" pitchFamily="18" charset="0"/>
              </a:rPr>
              <a:t>real-time updates or transparency</a:t>
            </a:r>
            <a:r>
              <a:rPr lang="en-IN"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p:txBody>
      </p:sp>
      <p:sp>
        <p:nvSpPr>
          <p:cNvPr id="5" name="Content Placeholder 5">
            <a:extLst>
              <a:ext uri="{FF2B5EF4-FFF2-40B4-BE49-F238E27FC236}">
                <a16:creationId xmlns:a16="http://schemas.microsoft.com/office/drawing/2014/main" id="{6C314780-0DF6-8AB9-4D9C-17F5100A055F}"/>
              </a:ext>
            </a:extLst>
          </p:cNvPr>
          <p:cNvSpPr txBox="1">
            <a:spLocks/>
          </p:cNvSpPr>
          <p:nvPr/>
        </p:nvSpPr>
        <p:spPr>
          <a:xfrm>
            <a:off x="6096000" y="1910736"/>
            <a:ext cx="5974685" cy="34464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buFont typeface="Arial" panose="020B0604020202020204" pitchFamily="34" charset="0"/>
              <a:buNone/>
            </a:pPr>
            <a:r>
              <a:rPr lang="en-IN" sz="1800" dirty="0">
                <a:latin typeface="Times New Roman" panose="02020603050405020304" pitchFamily="18" charset="0"/>
                <a:ea typeface="Times New Roman" panose="02020603050405020304" pitchFamily="18" charset="0"/>
                <a:cs typeface="Times New Roman" panose="02020603050405020304" pitchFamily="18" charset="0"/>
              </a:rPr>
              <a:t>To design and develop a scalable, AI-powered smart city platform that automatically classifies urban complaints, predicts severity, detects duplicates, and enables real-time issue tracking between citizens and municipal departments.</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indent="0">
              <a:buFont typeface="Arial" panose="020B0604020202020204" pitchFamily="34" charset="0"/>
              <a:buNone/>
            </a:pPr>
            <a:endParaRPr lang="en-US" dirty="0"/>
          </a:p>
        </p:txBody>
      </p:sp>
      <p:sp>
        <p:nvSpPr>
          <p:cNvPr id="9" name="Slide Number Placeholder 8">
            <a:extLst>
              <a:ext uri="{FF2B5EF4-FFF2-40B4-BE49-F238E27FC236}">
                <a16:creationId xmlns:a16="http://schemas.microsoft.com/office/drawing/2014/main" id="{6320F7B0-D588-C957-F9C5-F474836884B0}"/>
              </a:ext>
            </a:extLst>
          </p:cNvPr>
          <p:cNvSpPr txBox="1">
            <a:spLocks/>
          </p:cNvSpPr>
          <p:nvPr/>
        </p:nvSpPr>
        <p:spPr>
          <a:xfrm>
            <a:off x="8610600" y="64293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pPr/>
              <a:t>8</a:t>
            </a:fld>
            <a:endParaRPr lang="en-US"/>
          </a:p>
        </p:txBody>
      </p:sp>
      <p:sp>
        <p:nvSpPr>
          <p:cNvPr id="11" name="Title 11">
            <a:extLst>
              <a:ext uri="{FF2B5EF4-FFF2-40B4-BE49-F238E27FC236}">
                <a16:creationId xmlns:a16="http://schemas.microsoft.com/office/drawing/2014/main" id="{0D6E71C1-BA20-47D6-2BC7-BFA9694E73FB}"/>
              </a:ext>
            </a:extLst>
          </p:cNvPr>
          <p:cNvSpPr>
            <a:spLocks noGrp="1"/>
          </p:cNvSpPr>
          <p:nvPr>
            <p:ph type="title"/>
          </p:nvPr>
        </p:nvSpPr>
        <p:spPr>
          <a:xfrm>
            <a:off x="750254" y="0"/>
            <a:ext cx="10515600" cy="1325563"/>
          </a:xfrm>
        </p:spPr>
        <p:txBody>
          <a:bodyPr/>
          <a:lstStyle/>
          <a:p>
            <a:r>
              <a:rPr lang="en-IN" dirty="0"/>
              <a:t>Problem Statement</a:t>
            </a:r>
          </a:p>
        </p:txBody>
      </p:sp>
    </p:spTree>
    <p:extLst>
      <p:ext uri="{BB962C8B-B14F-4D97-AF65-F5344CB8AC3E}">
        <p14:creationId xmlns:p14="http://schemas.microsoft.com/office/powerpoint/2010/main" val="1096717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1239D04-9E77-EF8B-4E5F-45C6236A84AD}"/>
              </a:ext>
            </a:extLst>
          </p:cNvPr>
          <p:cNvSpPr txBox="1"/>
          <p:nvPr/>
        </p:nvSpPr>
        <p:spPr>
          <a:xfrm>
            <a:off x="881488" y="1317632"/>
            <a:ext cx="7610168" cy="4801314"/>
          </a:xfrm>
          <a:prstGeom prst="rect">
            <a:avLst/>
          </a:prstGeom>
          <a:noFill/>
        </p:spPr>
        <p:txBody>
          <a:bodyPr wrap="square">
            <a:spAutoFit/>
          </a:bodyPr>
          <a:lstStyle/>
          <a:p>
            <a:pPr>
              <a:buNone/>
            </a:pPr>
            <a:r>
              <a:rPr lang="en-GB" b="1" dirty="0"/>
              <a:t>Primary Objectives</a:t>
            </a:r>
          </a:p>
          <a:p>
            <a:pPr>
              <a:buFont typeface="Arial" panose="020B0604020202020204" pitchFamily="34" charset="0"/>
              <a:buChar char="•"/>
            </a:pPr>
            <a:r>
              <a:rPr lang="en-GB" dirty="0"/>
              <a:t>To develop an AI-based complaint classification system</a:t>
            </a:r>
          </a:p>
          <a:p>
            <a:pPr>
              <a:buFont typeface="Arial" panose="020B0604020202020204" pitchFamily="34" charset="0"/>
              <a:buChar char="•"/>
            </a:pPr>
            <a:r>
              <a:rPr lang="en-GB" dirty="0"/>
              <a:t>To automatically predict severity and prioritize issues</a:t>
            </a:r>
          </a:p>
          <a:p>
            <a:pPr>
              <a:buFont typeface="Arial" panose="020B0604020202020204" pitchFamily="34" charset="0"/>
              <a:buChar char="•"/>
            </a:pPr>
            <a:r>
              <a:rPr lang="en-GB" dirty="0"/>
              <a:t>To reduce duplicate complaints using similarity detection</a:t>
            </a:r>
          </a:p>
          <a:p>
            <a:pPr>
              <a:buFont typeface="Arial" panose="020B0604020202020204" pitchFamily="34" charset="0"/>
              <a:buChar char="•"/>
            </a:pPr>
            <a:r>
              <a:rPr lang="en-GB" dirty="0"/>
              <a:t>To provide real-time issue tracking for citizens</a:t>
            </a:r>
          </a:p>
          <a:p>
            <a:pPr>
              <a:buFont typeface="Arial" panose="020B0604020202020204" pitchFamily="34" charset="0"/>
              <a:buChar char="•"/>
            </a:pPr>
            <a:r>
              <a:rPr lang="en-GB" dirty="0"/>
              <a:t>To improve departmental response efficiency</a:t>
            </a:r>
          </a:p>
          <a:p>
            <a:endParaRPr lang="en-GB" dirty="0"/>
          </a:p>
          <a:p>
            <a:pPr>
              <a:buNone/>
            </a:pPr>
            <a:r>
              <a:rPr lang="en-GB" b="1" dirty="0"/>
              <a:t>Secondary Objectives</a:t>
            </a:r>
          </a:p>
          <a:p>
            <a:pPr>
              <a:buFont typeface="Arial" panose="020B0604020202020204" pitchFamily="34" charset="0"/>
              <a:buChar char="•"/>
            </a:pPr>
            <a:r>
              <a:rPr lang="en-GB" dirty="0"/>
              <a:t>To design a user-friendly mobile and web interface</a:t>
            </a:r>
          </a:p>
          <a:p>
            <a:pPr>
              <a:buFont typeface="Arial" panose="020B0604020202020204" pitchFamily="34" charset="0"/>
              <a:buChar char="•"/>
            </a:pPr>
            <a:r>
              <a:rPr lang="en-GB" dirty="0"/>
              <a:t>To implement role-based dashboards for admins and workers</a:t>
            </a:r>
          </a:p>
          <a:p>
            <a:pPr>
              <a:buFont typeface="Arial" panose="020B0604020202020204" pitchFamily="34" charset="0"/>
              <a:buChar char="•"/>
            </a:pPr>
            <a:r>
              <a:rPr lang="en-GB" dirty="0"/>
              <a:t>To generate actionable analytics and hotspot maps</a:t>
            </a:r>
          </a:p>
          <a:p>
            <a:pPr>
              <a:buFont typeface="Arial" panose="020B0604020202020204" pitchFamily="34" charset="0"/>
              <a:buChar char="•"/>
            </a:pPr>
            <a:r>
              <a:rPr lang="en-GB" dirty="0"/>
              <a:t>To enable continuous learning through retraining</a:t>
            </a:r>
          </a:p>
          <a:p>
            <a:endParaRPr lang="en-GB" dirty="0"/>
          </a:p>
          <a:p>
            <a:pPr>
              <a:buNone/>
            </a:pPr>
            <a:r>
              <a:rPr lang="en-GB" b="1" dirty="0"/>
              <a:t>Learning Outcomes</a:t>
            </a:r>
          </a:p>
          <a:p>
            <a:pPr>
              <a:buFont typeface="Arial" panose="020B0604020202020204" pitchFamily="34" charset="0"/>
              <a:buChar char="•"/>
            </a:pPr>
            <a:r>
              <a:rPr lang="en-GB" dirty="0"/>
              <a:t>Practical implementation of machine learning models</a:t>
            </a:r>
          </a:p>
          <a:p>
            <a:pPr>
              <a:buFont typeface="Arial" panose="020B0604020202020204" pitchFamily="34" charset="0"/>
              <a:buChar char="•"/>
            </a:pPr>
            <a:r>
              <a:rPr lang="en-GB" dirty="0"/>
              <a:t>Experience with full-stack system integration</a:t>
            </a:r>
          </a:p>
          <a:p>
            <a:pPr>
              <a:buFont typeface="Arial" panose="020B0604020202020204" pitchFamily="34" charset="0"/>
              <a:buChar char="•"/>
            </a:pPr>
            <a:r>
              <a:rPr lang="en-GB" dirty="0"/>
              <a:t>Exposure to smart city application development</a:t>
            </a:r>
          </a:p>
        </p:txBody>
      </p:sp>
      <p:sp>
        <p:nvSpPr>
          <p:cNvPr id="9" name="Title 11">
            <a:extLst>
              <a:ext uri="{FF2B5EF4-FFF2-40B4-BE49-F238E27FC236}">
                <a16:creationId xmlns:a16="http://schemas.microsoft.com/office/drawing/2014/main" id="{3A98F2AF-C972-BC3E-EE56-C1E0439FA07A}"/>
              </a:ext>
            </a:extLst>
          </p:cNvPr>
          <p:cNvSpPr>
            <a:spLocks noGrp="1"/>
          </p:cNvSpPr>
          <p:nvPr>
            <p:ph type="title"/>
          </p:nvPr>
        </p:nvSpPr>
        <p:spPr>
          <a:xfrm>
            <a:off x="881488" y="137353"/>
            <a:ext cx="10429023" cy="993358"/>
          </a:xfrm>
        </p:spPr>
        <p:txBody>
          <a:bodyPr/>
          <a:lstStyle/>
          <a:p>
            <a:r>
              <a:rPr lang="en-IN" dirty="0"/>
              <a:t>Project Objectives</a:t>
            </a:r>
          </a:p>
        </p:txBody>
      </p:sp>
    </p:spTree>
    <p:extLst>
      <p:ext uri="{BB962C8B-B14F-4D97-AF65-F5344CB8AC3E}">
        <p14:creationId xmlns:p14="http://schemas.microsoft.com/office/powerpoint/2010/main" val="374834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81C77999-1E23-7CF9-3447-427115BA3900}"/>
              </a:ext>
            </a:extLst>
          </p:cNvPr>
          <p:cNvSpPr txBox="1">
            <a:spLocks/>
          </p:cNvSpPr>
          <p:nvPr/>
        </p:nvSpPr>
        <p:spPr>
          <a:xfrm>
            <a:off x="819778" y="2891472"/>
            <a:ext cx="5157787" cy="3446463"/>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7000"/>
              </a:lnSpc>
              <a:spcAft>
                <a:spcPts val="800"/>
              </a:spcAft>
              <a:buSzPts val="1000"/>
              <a:buFont typeface="Symbol" panose="05050102010706020507" pitchFamily="18" charset="2"/>
              <a:buChar char=""/>
              <a:tabLst>
                <a:tab pos="4572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Complaints are currently handled through:</a:t>
            </a:r>
            <a:endParaRPr lang="en-IN">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Call centres</a:t>
            </a:r>
            <a:endParaRPr lang="en-IN">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Email-based portals</a:t>
            </a:r>
            <a:endParaRPr lang="en-IN">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Basic mobile apps</a:t>
            </a:r>
            <a:endParaRPr lang="en-IN">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Symbol" panose="05050102010706020507" pitchFamily="18" charset="2"/>
              <a:buChar char=""/>
              <a:tabLst>
                <a:tab pos="4572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Issue classification is done </a:t>
            </a:r>
            <a:r>
              <a:rPr lang="en-IN" b="1">
                <a:latin typeface="Times New Roman" panose="02020603050405020304" pitchFamily="18" charset="0"/>
                <a:ea typeface="Times New Roman" panose="02020603050405020304" pitchFamily="18" charset="0"/>
                <a:cs typeface="Times New Roman" panose="02020603050405020304" pitchFamily="18" charset="0"/>
              </a:rPr>
              <a:t>manually by staff</a:t>
            </a:r>
            <a:r>
              <a:rPr lang="en-IN">
                <a:latin typeface="Times New Roman" panose="02020603050405020304" pitchFamily="18" charset="0"/>
                <a:ea typeface="Times New Roman" panose="02020603050405020304" pitchFamily="18" charset="0"/>
                <a:cs typeface="Times New Roman" panose="02020603050405020304" pitchFamily="18" charset="0"/>
              </a:rPr>
              <a:t>.</a:t>
            </a:r>
            <a:endParaRPr lang="en-IN">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Symbol" panose="05050102010706020507" pitchFamily="18" charset="2"/>
              <a:buChar char=""/>
              <a:tabLst>
                <a:tab pos="4572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Severity is often based on </a:t>
            </a:r>
            <a:r>
              <a:rPr lang="en-IN" b="1">
                <a:latin typeface="Times New Roman" panose="02020603050405020304" pitchFamily="18" charset="0"/>
                <a:ea typeface="Times New Roman" panose="02020603050405020304" pitchFamily="18" charset="0"/>
                <a:cs typeface="Times New Roman" panose="02020603050405020304" pitchFamily="18" charset="0"/>
              </a:rPr>
              <a:t>human judgment</a:t>
            </a:r>
            <a:r>
              <a:rPr lang="en-IN">
                <a:latin typeface="Times New Roman" panose="02020603050405020304" pitchFamily="18" charset="0"/>
                <a:ea typeface="Times New Roman" panose="02020603050405020304" pitchFamily="18" charset="0"/>
                <a:cs typeface="Times New Roman" panose="02020603050405020304" pitchFamily="18" charset="0"/>
              </a:rPr>
              <a:t>.</a:t>
            </a:r>
            <a:endParaRPr lang="en-IN">
              <a:latin typeface="Calibri" panose="020F0502020204030204" pitchFamily="34" charset="0"/>
              <a:ea typeface="Calibri" panose="020F0502020204030204" pitchFamily="34" charset="0"/>
              <a:cs typeface="Times New Roman" panose="02020603050405020304" pitchFamily="18" charset="0"/>
            </a:endParaRPr>
          </a:p>
          <a:p>
            <a:pPr indent="0">
              <a:buFont typeface="Arial" panose="020B0604020202020204" pitchFamily="34" charset="0"/>
              <a:buNone/>
            </a:pPr>
            <a:endParaRPr lang="en-IN" sz="2000" dirty="0"/>
          </a:p>
        </p:txBody>
      </p:sp>
      <p:sp>
        <p:nvSpPr>
          <p:cNvPr id="5" name="Content Placeholder 2">
            <a:extLst>
              <a:ext uri="{FF2B5EF4-FFF2-40B4-BE49-F238E27FC236}">
                <a16:creationId xmlns:a16="http://schemas.microsoft.com/office/drawing/2014/main" id="{ADA36DF6-C86C-5CD0-4000-006881A46CD3}"/>
              </a:ext>
            </a:extLst>
          </p:cNvPr>
          <p:cNvSpPr txBox="1">
            <a:spLocks/>
          </p:cNvSpPr>
          <p:nvPr/>
        </p:nvSpPr>
        <p:spPr>
          <a:xfrm>
            <a:off x="6189034" y="2891472"/>
            <a:ext cx="5183188" cy="34464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7000"/>
              </a:lnSpc>
              <a:spcAft>
                <a:spcPts val="800"/>
              </a:spcAft>
              <a:buSzPts val="1000"/>
              <a:buFont typeface="Symbol" panose="05050102010706020507" pitchFamily="18" charset="2"/>
              <a:buChar char=""/>
              <a:tabLst>
                <a:tab pos="4572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Limited integration of:</a:t>
            </a:r>
            <a:endParaRPr lang="en-IN">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Real-time tracking</a:t>
            </a:r>
            <a:endParaRPr lang="en-IN">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a:latin typeface="Times New Roman" panose="02020603050405020304" pitchFamily="18" charset="0"/>
                <a:ea typeface="Times New Roman" panose="02020603050405020304" pitchFamily="18" charset="0"/>
                <a:cs typeface="Times New Roman" panose="02020603050405020304" pitchFamily="18" charset="0"/>
              </a:rPr>
              <a:t>Smart analytics dashboards</a:t>
            </a:r>
            <a:endParaRPr lang="en-IN">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
        <p:nvSpPr>
          <p:cNvPr id="8" name="Slide Number Placeholder 4">
            <a:extLst>
              <a:ext uri="{FF2B5EF4-FFF2-40B4-BE49-F238E27FC236}">
                <a16:creationId xmlns:a16="http://schemas.microsoft.com/office/drawing/2014/main" id="{7ECB47D0-EF84-64AF-500D-A7DA684D2D11}"/>
              </a:ext>
            </a:extLst>
          </p:cNvPr>
          <p:cNvSpPr txBox="1">
            <a:spLocks/>
          </p:cNvSpPr>
          <p:nvPr/>
        </p:nvSpPr>
        <p:spPr>
          <a:xfrm>
            <a:off x="8610600" y="64293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pPr/>
              <a:t>10</a:t>
            </a:fld>
            <a:endParaRPr lang="en-US"/>
          </a:p>
        </p:txBody>
      </p:sp>
      <p:sp>
        <p:nvSpPr>
          <p:cNvPr id="9" name="Title 5">
            <a:extLst>
              <a:ext uri="{FF2B5EF4-FFF2-40B4-BE49-F238E27FC236}">
                <a16:creationId xmlns:a16="http://schemas.microsoft.com/office/drawing/2014/main" id="{7149928C-D78B-794E-6CA5-AB9A7AA4A40B}"/>
              </a:ext>
            </a:extLst>
          </p:cNvPr>
          <p:cNvSpPr txBox="1">
            <a:spLocks/>
          </p:cNvSpPr>
          <p:nvPr/>
        </p:nvSpPr>
        <p:spPr>
          <a:xfrm>
            <a:off x="856622" y="336677"/>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IN" sz="5400" kern="1800" dirty="0">
                <a:latin typeface="Times New Roman" panose="02020603050405020304" pitchFamily="18" charset="0"/>
                <a:ea typeface="Times New Roman" panose="02020603050405020304" pitchFamily="18" charset="0"/>
              </a:rPr>
              <a:t>Existing System Overview</a:t>
            </a:r>
            <a:endParaRPr lang="en-IN" dirty="0"/>
          </a:p>
        </p:txBody>
      </p:sp>
      <p:sp>
        <p:nvSpPr>
          <p:cNvPr id="10" name="Text Placeholder 6">
            <a:extLst>
              <a:ext uri="{FF2B5EF4-FFF2-40B4-BE49-F238E27FC236}">
                <a16:creationId xmlns:a16="http://schemas.microsoft.com/office/drawing/2014/main" id="{6C90A571-5215-DB36-2E22-7274766CE1F4}"/>
              </a:ext>
            </a:extLst>
          </p:cNvPr>
          <p:cNvSpPr txBox="1">
            <a:spLocks/>
          </p:cNvSpPr>
          <p:nvPr/>
        </p:nvSpPr>
        <p:spPr>
          <a:xfrm>
            <a:off x="839787" y="2011680"/>
            <a:ext cx="10514013" cy="5303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a:latin typeface="Times New Roman" panose="02020603050405020304" pitchFamily="18" charset="0"/>
                <a:ea typeface="Times New Roman" panose="02020603050405020304" pitchFamily="18" charset="0"/>
                <a:cs typeface="Times New Roman" panose="02020603050405020304" pitchFamily="18" charset="0"/>
              </a:rPr>
              <a:t>Citizen → Submit Complaint → Manual Review → Department Assignment → Resolution</a:t>
            </a:r>
            <a:endParaRPr lang="en-IN" sz="2000">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2188828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B9D9D6-95A0-22D2-9F21-BC58C9D255B7}"/>
              </a:ext>
            </a:extLst>
          </p:cNvPr>
          <p:cNvSpPr txBox="1"/>
          <p:nvPr/>
        </p:nvSpPr>
        <p:spPr>
          <a:xfrm>
            <a:off x="7443019" y="2073953"/>
            <a:ext cx="4572000" cy="3970318"/>
          </a:xfrm>
          <a:prstGeom prst="rect">
            <a:avLst/>
          </a:prstGeom>
          <a:noFill/>
        </p:spPr>
        <p:txBody>
          <a:bodyPr wrap="square">
            <a:spAutoFit/>
          </a:bodyPr>
          <a:lstStyle/>
          <a:p>
            <a:pPr>
              <a:buNone/>
            </a:pPr>
            <a:r>
              <a:rPr lang="en-GB" b="1" dirty="0"/>
              <a:t>Working Principle</a:t>
            </a:r>
          </a:p>
          <a:p>
            <a:pPr>
              <a:buFont typeface="+mj-lt"/>
              <a:buAutoNum type="arabicPeriod"/>
            </a:pPr>
            <a:r>
              <a:rPr lang="en-GB" dirty="0"/>
              <a:t>Citizens submit issues with text, image, and GPS location</a:t>
            </a:r>
          </a:p>
          <a:p>
            <a:pPr>
              <a:buFont typeface="+mj-lt"/>
              <a:buAutoNum type="arabicPeriod"/>
            </a:pPr>
            <a:r>
              <a:rPr lang="en-GB" dirty="0"/>
              <a:t>AI engine analyses and classifies complaints</a:t>
            </a:r>
          </a:p>
          <a:p>
            <a:pPr>
              <a:buFont typeface="+mj-lt"/>
              <a:buAutoNum type="arabicPeriod"/>
            </a:pPr>
            <a:r>
              <a:rPr lang="en-GB" dirty="0"/>
              <a:t>System assigns severity and department</a:t>
            </a:r>
          </a:p>
          <a:p>
            <a:pPr>
              <a:buFont typeface="+mj-lt"/>
              <a:buAutoNum type="arabicPeriod"/>
            </a:pPr>
            <a:r>
              <a:rPr lang="en-GB" dirty="0"/>
              <a:t>Issue is forwarded to relevant authorities</a:t>
            </a:r>
          </a:p>
          <a:p>
            <a:pPr>
              <a:buFont typeface="+mj-lt"/>
              <a:buAutoNum type="arabicPeriod"/>
            </a:pPr>
            <a:r>
              <a:rPr lang="en-GB" dirty="0"/>
              <a:t>Field workers resolve the issue</a:t>
            </a:r>
          </a:p>
          <a:p>
            <a:pPr>
              <a:buFont typeface="+mj-lt"/>
              <a:buAutoNum type="arabicPeriod"/>
            </a:pPr>
            <a:r>
              <a:rPr lang="en-GB" dirty="0"/>
              <a:t>Updates are reflected in real-time</a:t>
            </a:r>
          </a:p>
          <a:p>
            <a:endParaRPr lang="en-GB" dirty="0"/>
          </a:p>
          <a:p>
            <a:pPr>
              <a:buNone/>
            </a:pPr>
            <a:r>
              <a:rPr lang="en-GB" b="1" dirty="0"/>
              <a:t>Benefits</a:t>
            </a:r>
          </a:p>
          <a:p>
            <a:pPr>
              <a:buFont typeface="Arial" panose="020B0604020202020204" pitchFamily="34" charset="0"/>
              <a:buChar char="•"/>
            </a:pPr>
            <a:r>
              <a:rPr lang="en-GB" dirty="0"/>
              <a:t>Faster complaint resolution</a:t>
            </a:r>
          </a:p>
          <a:p>
            <a:pPr>
              <a:buFont typeface="Arial" panose="020B0604020202020204" pitchFamily="34" charset="0"/>
              <a:buChar char="•"/>
            </a:pPr>
            <a:r>
              <a:rPr lang="en-GB" dirty="0"/>
              <a:t>Reduced manual workload</a:t>
            </a:r>
          </a:p>
          <a:p>
            <a:pPr>
              <a:buFont typeface="Arial" panose="020B0604020202020204" pitchFamily="34" charset="0"/>
              <a:buChar char="•"/>
            </a:pPr>
            <a:r>
              <a:rPr lang="en-GB" dirty="0"/>
              <a:t>Improved transparency</a:t>
            </a:r>
          </a:p>
          <a:p>
            <a:pPr>
              <a:buFont typeface="Arial" panose="020B0604020202020204" pitchFamily="34" charset="0"/>
              <a:buChar char="•"/>
            </a:pPr>
            <a:r>
              <a:rPr lang="en-GB" dirty="0"/>
              <a:t>Data-driven urban management</a:t>
            </a:r>
          </a:p>
        </p:txBody>
      </p:sp>
      <p:sp>
        <p:nvSpPr>
          <p:cNvPr id="7" name="TextBox 6">
            <a:extLst>
              <a:ext uri="{FF2B5EF4-FFF2-40B4-BE49-F238E27FC236}">
                <a16:creationId xmlns:a16="http://schemas.microsoft.com/office/drawing/2014/main" id="{0BF33AAC-2DDF-781C-B6CC-64E39DAC2D3D}"/>
              </a:ext>
            </a:extLst>
          </p:cNvPr>
          <p:cNvSpPr txBox="1"/>
          <p:nvPr/>
        </p:nvSpPr>
        <p:spPr>
          <a:xfrm>
            <a:off x="688259" y="2073953"/>
            <a:ext cx="6096000" cy="2308324"/>
          </a:xfrm>
          <a:prstGeom prst="rect">
            <a:avLst/>
          </a:prstGeom>
          <a:noFill/>
        </p:spPr>
        <p:txBody>
          <a:bodyPr wrap="square">
            <a:spAutoFit/>
          </a:bodyPr>
          <a:lstStyle/>
          <a:p>
            <a:pPr>
              <a:buNone/>
            </a:pPr>
            <a:endParaRPr lang="en-GB" dirty="0"/>
          </a:p>
          <a:p>
            <a:pPr>
              <a:buNone/>
            </a:pPr>
            <a:r>
              <a:rPr lang="en-GB" b="1" dirty="0"/>
              <a:t>Key Features</a:t>
            </a:r>
          </a:p>
          <a:p>
            <a:pPr>
              <a:buFont typeface="Arial" panose="020B0604020202020204" pitchFamily="34" charset="0"/>
              <a:buChar char="•"/>
            </a:pPr>
            <a:r>
              <a:rPr lang="en-GB" dirty="0"/>
              <a:t>Multimodal AI-based complaint classification</a:t>
            </a:r>
          </a:p>
          <a:p>
            <a:pPr>
              <a:buFont typeface="Arial" panose="020B0604020202020204" pitchFamily="34" charset="0"/>
              <a:buChar char="•"/>
            </a:pPr>
            <a:r>
              <a:rPr lang="en-GB" dirty="0"/>
              <a:t>Automated severity prediction and prioritization</a:t>
            </a:r>
          </a:p>
          <a:p>
            <a:pPr>
              <a:buFont typeface="Arial" panose="020B0604020202020204" pitchFamily="34" charset="0"/>
              <a:buChar char="•"/>
            </a:pPr>
            <a:r>
              <a:rPr lang="en-GB" dirty="0"/>
              <a:t>Duplicate complaint detection</a:t>
            </a:r>
          </a:p>
          <a:p>
            <a:pPr>
              <a:buFont typeface="Arial" panose="020B0604020202020204" pitchFamily="34" charset="0"/>
              <a:buChar char="•"/>
            </a:pPr>
            <a:r>
              <a:rPr lang="en-GB" dirty="0"/>
              <a:t>Real-time status tracking</a:t>
            </a:r>
          </a:p>
          <a:p>
            <a:pPr>
              <a:buFont typeface="Arial" panose="020B0604020202020204" pitchFamily="34" charset="0"/>
              <a:buChar char="•"/>
            </a:pPr>
            <a:r>
              <a:rPr lang="en-GB" dirty="0"/>
              <a:t>Role-based dashboards</a:t>
            </a:r>
          </a:p>
          <a:p>
            <a:pPr>
              <a:buFont typeface="Arial" panose="020B0604020202020204" pitchFamily="34" charset="0"/>
              <a:buChar char="•"/>
            </a:pPr>
            <a:r>
              <a:rPr lang="en-GB" dirty="0"/>
              <a:t>City-level analytics and hotspot mapping</a:t>
            </a:r>
          </a:p>
        </p:txBody>
      </p:sp>
      <p:sp>
        <p:nvSpPr>
          <p:cNvPr id="9" name="TextBox 8">
            <a:extLst>
              <a:ext uri="{FF2B5EF4-FFF2-40B4-BE49-F238E27FC236}">
                <a16:creationId xmlns:a16="http://schemas.microsoft.com/office/drawing/2014/main" id="{7FC76CDA-819B-510E-37FF-8AC06B9868FF}"/>
              </a:ext>
            </a:extLst>
          </p:cNvPr>
          <p:cNvSpPr txBox="1"/>
          <p:nvPr/>
        </p:nvSpPr>
        <p:spPr>
          <a:xfrm>
            <a:off x="580104" y="1472490"/>
            <a:ext cx="11749548" cy="923330"/>
          </a:xfrm>
          <a:prstGeom prst="rect">
            <a:avLst/>
          </a:prstGeom>
          <a:noFill/>
        </p:spPr>
        <p:txBody>
          <a:bodyPr wrap="square">
            <a:spAutoFit/>
          </a:bodyPr>
          <a:lstStyle/>
          <a:p>
            <a:pPr>
              <a:buNone/>
            </a:pPr>
            <a:r>
              <a:rPr lang="en-GB" dirty="0"/>
              <a:t>CityTrack proposes an </a:t>
            </a:r>
            <a:r>
              <a:rPr lang="en-GB" b="1" dirty="0"/>
              <a:t>AI-powered centralized urban issue management platform</a:t>
            </a:r>
            <a:r>
              <a:rPr lang="en-GB" dirty="0"/>
              <a:t> that connects citizens, municipal departments, and field workers through a single digital ecosystem.</a:t>
            </a:r>
          </a:p>
          <a:p>
            <a:pPr>
              <a:buNone/>
            </a:pPr>
            <a:endParaRPr lang="en-GB" dirty="0"/>
          </a:p>
        </p:txBody>
      </p:sp>
      <p:sp>
        <p:nvSpPr>
          <p:cNvPr id="10" name="Title 5">
            <a:extLst>
              <a:ext uri="{FF2B5EF4-FFF2-40B4-BE49-F238E27FC236}">
                <a16:creationId xmlns:a16="http://schemas.microsoft.com/office/drawing/2014/main" id="{A8632E17-0F74-C483-4BA4-6F18F096A789}"/>
              </a:ext>
            </a:extLst>
          </p:cNvPr>
          <p:cNvSpPr txBox="1">
            <a:spLocks/>
          </p:cNvSpPr>
          <p:nvPr/>
        </p:nvSpPr>
        <p:spPr>
          <a:xfrm>
            <a:off x="580104" y="240950"/>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IN" sz="5400" kern="1800" dirty="0">
                <a:latin typeface="Times New Roman" panose="02020603050405020304" pitchFamily="18" charset="0"/>
                <a:ea typeface="Times New Roman" panose="02020603050405020304" pitchFamily="18" charset="0"/>
              </a:rPr>
              <a:t>Proposed solution</a:t>
            </a:r>
            <a:endParaRPr lang="en-IN" dirty="0"/>
          </a:p>
        </p:txBody>
      </p:sp>
    </p:spTree>
    <p:extLst>
      <p:ext uri="{BB962C8B-B14F-4D97-AF65-F5344CB8AC3E}">
        <p14:creationId xmlns:p14="http://schemas.microsoft.com/office/powerpoint/2010/main" val="859909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51127-00D3-0E18-1419-8CD1E7D149EA}"/>
            </a:ext>
          </a:extLst>
        </p:cNvPr>
        <p:cNvGrpSpPr/>
        <p:nvPr/>
      </p:nvGrpSpPr>
      <p:grpSpPr>
        <a:xfrm>
          <a:off x="0" y="0"/>
          <a:ext cx="0" cy="0"/>
          <a:chOff x="0" y="0"/>
          <a:chExt cx="0" cy="0"/>
        </a:xfrm>
      </p:grpSpPr>
      <p:sp>
        <p:nvSpPr>
          <p:cNvPr id="2" name="Google Shape;383;p34">
            <a:extLst>
              <a:ext uri="{FF2B5EF4-FFF2-40B4-BE49-F238E27FC236}">
                <a16:creationId xmlns:a16="http://schemas.microsoft.com/office/drawing/2014/main" id="{960EA20F-DA02-48C8-31F9-93EEF3E8D9A9}"/>
              </a:ext>
            </a:extLst>
          </p:cNvPr>
          <p:cNvSpPr txBox="1">
            <a:spLocks/>
          </p:cNvSpPr>
          <p:nvPr/>
        </p:nvSpPr>
        <p:spPr>
          <a:xfrm>
            <a:off x="6170612" y="2194560"/>
            <a:ext cx="5183100" cy="3446400"/>
          </a:xfrm>
          <a:prstGeom prst="rect">
            <a:avLst/>
          </a:prstGeom>
          <a:noFill/>
          <a:ln>
            <a:noFill/>
          </a:ln>
        </p:spPr>
        <p:txBody>
          <a:bodyPr spcFirstLastPara="1" wrap="square" lIns="91425" tIns="45700" rIns="91425" bIns="4570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7000"/>
              </a:lnSpc>
              <a:spcBef>
                <a:spcPts val="0"/>
              </a:spcBef>
              <a:buSzPts val="1440"/>
              <a:buFont typeface="Arial" panose="020B0604020202020204" pitchFamily="34" charset="0"/>
              <a:buNone/>
            </a:pPr>
            <a:r>
              <a:rPr lang="en-US" sz="1800">
                <a:latin typeface="Times New Roman"/>
                <a:ea typeface="Times New Roman"/>
                <a:cs typeface="Times New Roman"/>
                <a:sym typeface="Times New Roman"/>
              </a:rPr>
              <a:t>6. Severity prediction module calculates priority</a:t>
            </a:r>
            <a:endParaRPr lang="en-US" sz="1800">
              <a:latin typeface="Calibri"/>
              <a:ea typeface="Calibri"/>
              <a:cs typeface="Calibri"/>
              <a:sym typeface="Calibri"/>
            </a:endParaRPr>
          </a:p>
          <a:p>
            <a:pPr marL="0" indent="0">
              <a:lnSpc>
                <a:spcPct val="107000"/>
              </a:lnSpc>
              <a:spcBef>
                <a:spcPts val="1800"/>
              </a:spcBef>
              <a:buSzPts val="1440"/>
              <a:buFont typeface="Arial" panose="020B0604020202020204" pitchFamily="34" charset="0"/>
              <a:buNone/>
            </a:pPr>
            <a:r>
              <a:rPr lang="en-US" sz="1800">
                <a:latin typeface="Times New Roman"/>
                <a:ea typeface="Times New Roman"/>
                <a:cs typeface="Times New Roman"/>
                <a:sym typeface="Times New Roman"/>
              </a:rPr>
              <a:t>7. Duplicate detection module checks existing issues</a:t>
            </a:r>
            <a:endParaRPr lang="en-US" sz="1800">
              <a:latin typeface="Calibri"/>
              <a:ea typeface="Calibri"/>
              <a:cs typeface="Calibri"/>
              <a:sym typeface="Calibri"/>
            </a:endParaRPr>
          </a:p>
          <a:p>
            <a:pPr marL="0" indent="0">
              <a:lnSpc>
                <a:spcPct val="107000"/>
              </a:lnSpc>
              <a:spcBef>
                <a:spcPts val="1800"/>
              </a:spcBef>
              <a:buSzPts val="1440"/>
              <a:buFont typeface="Arial" panose="020B0604020202020204" pitchFamily="34" charset="0"/>
              <a:buNone/>
            </a:pPr>
            <a:r>
              <a:rPr lang="en-US" sz="1800">
                <a:latin typeface="Times New Roman"/>
                <a:ea typeface="Times New Roman"/>
                <a:cs typeface="Times New Roman"/>
                <a:sym typeface="Times New Roman"/>
              </a:rPr>
              <a:t>8. Issue stored in database</a:t>
            </a:r>
            <a:endParaRPr lang="en-US" sz="1800">
              <a:latin typeface="Calibri"/>
              <a:ea typeface="Calibri"/>
              <a:cs typeface="Calibri"/>
              <a:sym typeface="Calibri"/>
            </a:endParaRPr>
          </a:p>
          <a:p>
            <a:pPr marL="0" indent="0">
              <a:lnSpc>
                <a:spcPct val="107000"/>
              </a:lnSpc>
              <a:spcBef>
                <a:spcPts val="1800"/>
              </a:spcBef>
              <a:buSzPts val="1440"/>
              <a:buFont typeface="Arial" panose="020B0604020202020204" pitchFamily="34" charset="0"/>
              <a:buNone/>
            </a:pPr>
            <a:r>
              <a:rPr lang="en-US" sz="1800">
                <a:latin typeface="Times New Roman"/>
                <a:ea typeface="Times New Roman"/>
                <a:cs typeface="Times New Roman"/>
                <a:sym typeface="Times New Roman"/>
              </a:rPr>
              <a:t>9. Assigned to respective department</a:t>
            </a:r>
            <a:endParaRPr lang="en-US" sz="1800">
              <a:latin typeface="Calibri"/>
              <a:ea typeface="Calibri"/>
              <a:cs typeface="Calibri"/>
              <a:sym typeface="Calibri"/>
            </a:endParaRPr>
          </a:p>
          <a:p>
            <a:pPr marL="0" indent="0">
              <a:lnSpc>
                <a:spcPct val="107000"/>
              </a:lnSpc>
              <a:spcBef>
                <a:spcPts val="1800"/>
              </a:spcBef>
              <a:buSzPts val="1440"/>
              <a:buFont typeface="Arial" panose="020B0604020202020204" pitchFamily="34" charset="0"/>
              <a:buNone/>
            </a:pPr>
            <a:r>
              <a:rPr lang="en-US" sz="1800">
                <a:latin typeface="Times New Roman"/>
                <a:ea typeface="Times New Roman"/>
                <a:cs typeface="Times New Roman"/>
                <a:sym typeface="Times New Roman"/>
              </a:rPr>
              <a:t>10. Real-time status updates sent to user</a:t>
            </a:r>
            <a:endParaRPr lang="en-US" sz="1800">
              <a:latin typeface="Calibri"/>
              <a:ea typeface="Calibri"/>
              <a:cs typeface="Calibri"/>
              <a:sym typeface="Calibri"/>
            </a:endParaRPr>
          </a:p>
          <a:p>
            <a:pPr marL="457200" indent="-137159">
              <a:lnSpc>
                <a:spcPct val="110000"/>
              </a:lnSpc>
              <a:spcBef>
                <a:spcPts val="1800"/>
              </a:spcBef>
              <a:buClr>
                <a:srgbClr val="7357D4"/>
              </a:buClr>
              <a:buSzPts val="1440"/>
              <a:buFont typeface="Arial" panose="020B0604020202020204" pitchFamily="34" charset="0"/>
              <a:buNone/>
            </a:pPr>
            <a:endParaRPr lang="en-US" dirty="0"/>
          </a:p>
        </p:txBody>
      </p:sp>
      <p:sp>
        <p:nvSpPr>
          <p:cNvPr id="3" name="Google Shape;384;p34">
            <a:extLst>
              <a:ext uri="{FF2B5EF4-FFF2-40B4-BE49-F238E27FC236}">
                <a16:creationId xmlns:a16="http://schemas.microsoft.com/office/drawing/2014/main" id="{31156A64-710D-B0E1-98F2-F906516F9139}"/>
              </a:ext>
            </a:extLst>
          </p:cNvPr>
          <p:cNvSpPr txBox="1">
            <a:spLocks/>
          </p:cNvSpPr>
          <p:nvPr/>
        </p:nvSpPr>
        <p:spPr>
          <a:xfrm>
            <a:off x="4038600" y="6429375"/>
            <a:ext cx="4114800" cy="365100"/>
          </a:xfrm>
          <a:prstGeom prst="rect">
            <a:avLst/>
          </a:prstGeom>
          <a:no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a:t>SAMPLE FOOTER TEXT</a:t>
            </a:r>
          </a:p>
        </p:txBody>
      </p:sp>
      <p:sp>
        <p:nvSpPr>
          <p:cNvPr id="4" name="Google Shape;385;p34">
            <a:extLst>
              <a:ext uri="{FF2B5EF4-FFF2-40B4-BE49-F238E27FC236}">
                <a16:creationId xmlns:a16="http://schemas.microsoft.com/office/drawing/2014/main" id="{ABB0A6F8-8691-164C-53B7-5D7C46F601EE}"/>
              </a:ext>
            </a:extLst>
          </p:cNvPr>
          <p:cNvSpPr txBox="1">
            <a:spLocks/>
          </p:cNvSpPr>
          <p:nvPr/>
        </p:nvSpPr>
        <p:spPr>
          <a:xfrm>
            <a:off x="8610600" y="6429375"/>
            <a:ext cx="2743200" cy="365100"/>
          </a:xfrm>
          <a:prstGeom prst="rect">
            <a:avLst/>
          </a:prstGeom>
          <a:noFill/>
          <a:ln>
            <a:noFill/>
          </a:ln>
        </p:spPr>
        <p:txBody>
          <a:bodyPr spcFirstLastPara="1" vert="horz" wrap="square" lIns="91425" tIns="45700" rIns="91425" bIns="4570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spcBef>
                <a:spcPts val="0"/>
              </a:spcBef>
            </a:pPr>
            <a:fld id="{00000000-1234-1234-1234-123412341234}" type="slidenum">
              <a:rPr lang="en-IN" smtClean="0"/>
              <a:pPr algn="r">
                <a:spcBef>
                  <a:spcPts val="0"/>
                </a:spcBef>
              </a:pPr>
              <a:t>12</a:t>
            </a:fld>
            <a:endParaRPr lang="en-IN"/>
          </a:p>
        </p:txBody>
      </p:sp>
      <p:sp>
        <p:nvSpPr>
          <p:cNvPr id="5" name="Google Shape;386;p34">
            <a:extLst>
              <a:ext uri="{FF2B5EF4-FFF2-40B4-BE49-F238E27FC236}">
                <a16:creationId xmlns:a16="http://schemas.microsoft.com/office/drawing/2014/main" id="{B0FB2A33-AE9B-544E-9DFF-30BA4897CD16}"/>
              </a:ext>
            </a:extLst>
          </p:cNvPr>
          <p:cNvSpPr txBox="1">
            <a:spLocks noGrp="1"/>
          </p:cNvSpPr>
          <p:nvPr>
            <p:ph type="title"/>
          </p:nvPr>
        </p:nvSpPr>
        <p:spPr>
          <a:xfrm>
            <a:off x="838200" y="681037"/>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ct val="100000"/>
              <a:buFont typeface="Times New Roman"/>
              <a:buNone/>
            </a:pPr>
            <a:r>
              <a:rPr lang="en-IN" dirty="0"/>
              <a:t>WORKFLOW</a:t>
            </a:r>
            <a:endParaRPr dirty="0"/>
          </a:p>
        </p:txBody>
      </p:sp>
      <p:sp>
        <p:nvSpPr>
          <p:cNvPr id="7" name="TextBox 6">
            <a:extLst>
              <a:ext uri="{FF2B5EF4-FFF2-40B4-BE49-F238E27FC236}">
                <a16:creationId xmlns:a16="http://schemas.microsoft.com/office/drawing/2014/main" id="{ED1F07F3-7BE6-95AC-C20E-7CB35FB7178C}"/>
              </a:ext>
            </a:extLst>
          </p:cNvPr>
          <p:cNvSpPr txBox="1"/>
          <p:nvPr/>
        </p:nvSpPr>
        <p:spPr>
          <a:xfrm>
            <a:off x="924232" y="2085976"/>
            <a:ext cx="4326194" cy="3663567"/>
          </a:xfrm>
          <a:prstGeom prst="rect">
            <a:avLst/>
          </a:prstGeom>
          <a:noFill/>
        </p:spPr>
        <p:txBody>
          <a:bodyPr wrap="square" rtlCol="0">
            <a:spAutoFit/>
          </a:bodyPr>
          <a:lstStyle/>
          <a:p>
            <a:pPr>
              <a:lnSpc>
                <a:spcPct val="107000"/>
              </a:lnSpc>
              <a:buSzPts val="1440"/>
            </a:pPr>
            <a:r>
              <a:rPr lang="en-IN" dirty="0">
                <a:latin typeface="Times New Roman"/>
                <a:ea typeface="Times New Roman"/>
                <a:cs typeface="Times New Roman"/>
                <a:sym typeface="Times New Roman"/>
              </a:rPr>
              <a:t>1. User submits complaint (Text + Image + GPS Location)</a:t>
            </a:r>
            <a:endParaRPr lang="en-IN" dirty="0">
              <a:latin typeface="Calibri"/>
              <a:ea typeface="Calibri"/>
              <a:cs typeface="Calibri"/>
              <a:sym typeface="Calibri"/>
            </a:endParaRPr>
          </a:p>
          <a:p>
            <a:pPr>
              <a:lnSpc>
                <a:spcPct val="107000"/>
              </a:lnSpc>
              <a:spcBef>
                <a:spcPts val="1800"/>
              </a:spcBef>
              <a:buSzPts val="1440"/>
            </a:pPr>
            <a:r>
              <a:rPr lang="en-IN" dirty="0">
                <a:latin typeface="Times New Roman"/>
                <a:ea typeface="Times New Roman"/>
                <a:cs typeface="Times New Roman"/>
                <a:sym typeface="Times New Roman"/>
              </a:rPr>
              <a:t>2. Backend validates input data</a:t>
            </a:r>
            <a:endParaRPr lang="en-IN" dirty="0">
              <a:latin typeface="Calibri"/>
              <a:ea typeface="Calibri"/>
              <a:cs typeface="Calibri"/>
              <a:sym typeface="Calibri"/>
            </a:endParaRPr>
          </a:p>
          <a:p>
            <a:pPr>
              <a:lnSpc>
                <a:spcPct val="107000"/>
              </a:lnSpc>
              <a:spcBef>
                <a:spcPts val="1800"/>
              </a:spcBef>
              <a:buSzPts val="1440"/>
            </a:pPr>
            <a:r>
              <a:rPr lang="en-IN" dirty="0">
                <a:latin typeface="Times New Roman"/>
                <a:ea typeface="Times New Roman"/>
                <a:cs typeface="Times New Roman"/>
                <a:sym typeface="Times New Roman"/>
              </a:rPr>
              <a:t>3. Text passed to NLP classification model</a:t>
            </a:r>
            <a:endParaRPr lang="en-IN" dirty="0">
              <a:latin typeface="Calibri"/>
              <a:ea typeface="Calibri"/>
              <a:cs typeface="Calibri"/>
              <a:sym typeface="Calibri"/>
            </a:endParaRPr>
          </a:p>
          <a:p>
            <a:pPr>
              <a:lnSpc>
                <a:spcPct val="107000"/>
              </a:lnSpc>
              <a:spcBef>
                <a:spcPts val="1800"/>
              </a:spcBef>
              <a:buSzPts val="1440"/>
            </a:pPr>
            <a:r>
              <a:rPr lang="en-IN" dirty="0">
                <a:latin typeface="Times New Roman"/>
                <a:ea typeface="Times New Roman"/>
                <a:cs typeface="Times New Roman"/>
                <a:sym typeface="Times New Roman"/>
              </a:rPr>
              <a:t>4. Image passed to Vision classification model</a:t>
            </a:r>
            <a:endParaRPr lang="en-IN" dirty="0">
              <a:latin typeface="Calibri"/>
              <a:ea typeface="Calibri"/>
              <a:cs typeface="Calibri"/>
              <a:sym typeface="Calibri"/>
            </a:endParaRPr>
          </a:p>
          <a:p>
            <a:pPr>
              <a:lnSpc>
                <a:spcPct val="107000"/>
              </a:lnSpc>
              <a:spcBef>
                <a:spcPts val="1800"/>
              </a:spcBef>
              <a:buSzPts val="1440"/>
            </a:pPr>
            <a:r>
              <a:rPr lang="en-IN" dirty="0">
                <a:latin typeface="Times New Roman"/>
                <a:ea typeface="Times New Roman"/>
                <a:cs typeface="Times New Roman"/>
                <a:sym typeface="Times New Roman"/>
              </a:rPr>
              <a:t>5. Multimodal AI engine combines predictions</a:t>
            </a:r>
            <a:endParaRPr lang="en-IN" dirty="0">
              <a:latin typeface="Calibri"/>
              <a:ea typeface="Calibri"/>
              <a:cs typeface="Calibri"/>
              <a:sym typeface="Calibri"/>
            </a:endParaRPr>
          </a:p>
          <a:p>
            <a:endParaRPr lang="en-IN" dirty="0"/>
          </a:p>
        </p:txBody>
      </p:sp>
    </p:spTree>
    <p:extLst>
      <p:ext uri="{BB962C8B-B14F-4D97-AF65-F5344CB8AC3E}">
        <p14:creationId xmlns:p14="http://schemas.microsoft.com/office/powerpoint/2010/main" val="1962768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93F3B-003C-2326-9DBB-450CC1DAB753}"/>
            </a:ext>
          </a:extLst>
        </p:cNvPr>
        <p:cNvGrpSpPr/>
        <p:nvPr/>
      </p:nvGrpSpPr>
      <p:grpSpPr>
        <a:xfrm>
          <a:off x="0" y="0"/>
          <a:ext cx="0" cy="0"/>
          <a:chOff x="0" y="0"/>
          <a:chExt cx="0" cy="0"/>
        </a:xfrm>
      </p:grpSpPr>
      <p:sp>
        <p:nvSpPr>
          <p:cNvPr id="2" name="Title 8">
            <a:extLst>
              <a:ext uri="{FF2B5EF4-FFF2-40B4-BE49-F238E27FC236}">
                <a16:creationId xmlns:a16="http://schemas.microsoft.com/office/drawing/2014/main" id="{9CB325B0-6F5D-B235-C24C-B1C9E7DD1A2F}"/>
              </a:ext>
            </a:extLst>
          </p:cNvPr>
          <p:cNvSpPr>
            <a:spLocks noGrp="1"/>
          </p:cNvSpPr>
          <p:nvPr>
            <p:ph type="title"/>
          </p:nvPr>
        </p:nvSpPr>
        <p:spPr>
          <a:xfrm>
            <a:off x="839788" y="685800"/>
            <a:ext cx="3932100" cy="1371600"/>
          </a:xfrm>
        </p:spPr>
        <p:txBody>
          <a:bodyPr/>
          <a:lstStyle/>
          <a:p>
            <a:r>
              <a:rPr lang="en-IN" dirty="0"/>
              <a:t>USER LOGIN</a:t>
            </a:r>
            <a:br>
              <a:rPr lang="en-IN" dirty="0"/>
            </a:br>
            <a:endParaRPr lang="en-IN" dirty="0"/>
          </a:p>
        </p:txBody>
      </p:sp>
      <p:sp>
        <p:nvSpPr>
          <p:cNvPr id="3" name="Text Placeholder 10">
            <a:extLst>
              <a:ext uri="{FF2B5EF4-FFF2-40B4-BE49-F238E27FC236}">
                <a16:creationId xmlns:a16="http://schemas.microsoft.com/office/drawing/2014/main" id="{A20801AE-1297-EE6A-6833-A96D8F32B04A}"/>
              </a:ext>
            </a:extLst>
          </p:cNvPr>
          <p:cNvSpPr txBox="1">
            <a:spLocks/>
          </p:cNvSpPr>
          <p:nvPr/>
        </p:nvSpPr>
        <p:spPr>
          <a:xfrm>
            <a:off x="839788" y="1976284"/>
            <a:ext cx="3932100" cy="3892616"/>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page enables logged in users to access the system. The user must provide their registered email address and password to log in.</a:t>
            </a:r>
            <a:endParaRPr lang="en-IN" dirty="0"/>
          </a:p>
          <a:p>
            <a:r>
              <a:rPr lang="en-US" dirty="0"/>
              <a:t>Steps:</a:t>
            </a:r>
            <a:endParaRPr lang="en-IN" dirty="0"/>
          </a:p>
          <a:p>
            <a:r>
              <a:rPr lang="en-US" dirty="0"/>
              <a:t>1. Open the application</a:t>
            </a:r>
            <a:endParaRPr lang="en-IN" dirty="0"/>
          </a:p>
          <a:p>
            <a:r>
              <a:rPr lang="en-US" dirty="0"/>
              <a:t>2. Enter your email address</a:t>
            </a:r>
            <a:endParaRPr lang="en-IN" dirty="0"/>
          </a:p>
          <a:p>
            <a:r>
              <a:rPr lang="en-US" dirty="0"/>
              <a:t>3. Enter your password</a:t>
            </a:r>
            <a:endParaRPr lang="en-IN" dirty="0"/>
          </a:p>
          <a:p>
            <a:r>
              <a:rPr lang="en-US" dirty="0"/>
              <a:t>4. Click on “Sign In” button</a:t>
            </a:r>
            <a:endParaRPr lang="en-IN" dirty="0"/>
          </a:p>
          <a:p>
            <a:pPr marL="0" indent="0">
              <a:buNone/>
            </a:pPr>
            <a:endParaRPr lang="en-IN" dirty="0"/>
          </a:p>
          <a:p>
            <a:endParaRPr lang="en-IN" dirty="0"/>
          </a:p>
        </p:txBody>
      </p:sp>
      <p:sp>
        <p:nvSpPr>
          <p:cNvPr id="4" name="Slide Number Placeholder 7">
            <a:extLst>
              <a:ext uri="{FF2B5EF4-FFF2-40B4-BE49-F238E27FC236}">
                <a16:creationId xmlns:a16="http://schemas.microsoft.com/office/drawing/2014/main" id="{F512D53F-0096-990B-F498-4BC0EEB83ED6}"/>
              </a:ext>
            </a:extLst>
          </p:cNvPr>
          <p:cNvSpPr txBox="1">
            <a:spLocks/>
          </p:cNvSpPr>
          <p:nvPr/>
        </p:nvSpPr>
        <p:spPr>
          <a:xfrm>
            <a:off x="8610600" y="6429375"/>
            <a:ext cx="2743200" cy="3651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spcBef>
                <a:spcPts val="0"/>
              </a:spcBef>
            </a:pPr>
            <a:fld id="{00000000-1234-1234-1234-123412341234}" type="slidenum">
              <a:rPr lang="en-IN" smtClean="0"/>
              <a:pPr algn="r">
                <a:spcBef>
                  <a:spcPts val="0"/>
                </a:spcBef>
              </a:pPr>
              <a:t>13</a:t>
            </a:fld>
            <a:endParaRPr lang="en-IN"/>
          </a:p>
        </p:txBody>
      </p:sp>
      <p:pic>
        <p:nvPicPr>
          <p:cNvPr id="5" name="Picture 4">
            <a:extLst>
              <a:ext uri="{FF2B5EF4-FFF2-40B4-BE49-F238E27FC236}">
                <a16:creationId xmlns:a16="http://schemas.microsoft.com/office/drawing/2014/main" id="{8D81B43E-FCDA-EFC5-A5B1-1D0F7A479E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0011" y="685800"/>
            <a:ext cx="6172200" cy="5183100"/>
          </a:xfrm>
          <a:prstGeom prst="rect">
            <a:avLst/>
          </a:prstGeom>
        </p:spPr>
      </p:pic>
    </p:spTree>
    <p:extLst>
      <p:ext uri="{BB962C8B-B14F-4D97-AF65-F5344CB8AC3E}">
        <p14:creationId xmlns:p14="http://schemas.microsoft.com/office/powerpoint/2010/main" val="2200907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1D733-69EA-80AD-9DC9-BC4EEC355B13}"/>
            </a:ext>
          </a:extLst>
        </p:cNvPr>
        <p:cNvGrpSpPr/>
        <p:nvPr/>
      </p:nvGrpSpPr>
      <p:grpSpPr>
        <a:xfrm>
          <a:off x="0" y="0"/>
          <a:ext cx="0" cy="0"/>
          <a:chOff x="0" y="0"/>
          <a:chExt cx="0" cy="0"/>
        </a:xfrm>
      </p:grpSpPr>
      <p:sp>
        <p:nvSpPr>
          <p:cNvPr id="2" name="Title 8">
            <a:extLst>
              <a:ext uri="{FF2B5EF4-FFF2-40B4-BE49-F238E27FC236}">
                <a16:creationId xmlns:a16="http://schemas.microsoft.com/office/drawing/2014/main" id="{6FF95768-D400-EA52-E216-6F82234A90CC}"/>
              </a:ext>
            </a:extLst>
          </p:cNvPr>
          <p:cNvSpPr>
            <a:spLocks noGrp="1"/>
          </p:cNvSpPr>
          <p:nvPr>
            <p:ph type="title"/>
          </p:nvPr>
        </p:nvSpPr>
        <p:spPr>
          <a:xfrm>
            <a:off x="839788" y="685800"/>
            <a:ext cx="3932100" cy="1371600"/>
          </a:xfrm>
        </p:spPr>
        <p:txBody>
          <a:bodyPr>
            <a:normAutofit fontScale="90000"/>
          </a:bodyPr>
          <a:lstStyle/>
          <a:p>
            <a:r>
              <a:rPr lang="en-IN" dirty="0"/>
              <a:t>USER REGISTRATION</a:t>
            </a:r>
            <a:br>
              <a:rPr lang="en-IN" dirty="0"/>
            </a:br>
            <a:endParaRPr lang="en-IN" dirty="0"/>
          </a:p>
        </p:txBody>
      </p:sp>
      <p:sp>
        <p:nvSpPr>
          <p:cNvPr id="3" name="Text Placeholder 10">
            <a:extLst>
              <a:ext uri="{FF2B5EF4-FFF2-40B4-BE49-F238E27FC236}">
                <a16:creationId xmlns:a16="http://schemas.microsoft.com/office/drawing/2014/main" id="{25245D28-AEB4-D4BB-C7EE-0D81809A6A9E}"/>
              </a:ext>
            </a:extLst>
          </p:cNvPr>
          <p:cNvSpPr txBox="1">
            <a:spLocks/>
          </p:cNvSpPr>
          <p:nvPr/>
        </p:nvSpPr>
        <p:spPr>
          <a:xfrm>
            <a:off x="839788" y="1976284"/>
            <a:ext cx="3932100" cy="3892616"/>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For users who have not registered, a new account must first be created before access to the system can be granted. Users are required to complete a registration form to provide basic details.</a:t>
            </a:r>
          </a:p>
          <a:p>
            <a:r>
              <a:rPr lang="en-IN" dirty="0"/>
              <a:t>Steps:</a:t>
            </a:r>
          </a:p>
          <a:p>
            <a:pPr marL="0" indent="0">
              <a:buNone/>
            </a:pPr>
            <a:r>
              <a:rPr lang="en-IN" dirty="0"/>
              <a:t>1. Enter full name</a:t>
            </a:r>
          </a:p>
          <a:p>
            <a:pPr marL="0" indent="0">
              <a:buNone/>
            </a:pPr>
            <a:r>
              <a:rPr lang="en-IN" dirty="0"/>
              <a:t>2. Enter email address</a:t>
            </a:r>
          </a:p>
          <a:p>
            <a:pPr marL="0" indent="0">
              <a:buNone/>
            </a:pPr>
            <a:r>
              <a:rPr lang="en-IN" dirty="0"/>
              <a:t>3. Create a password</a:t>
            </a:r>
          </a:p>
          <a:p>
            <a:pPr marL="0" indent="0">
              <a:buNone/>
            </a:pPr>
            <a:r>
              <a:rPr lang="en-IN" dirty="0"/>
              <a:t>4. Click on “Create Account”</a:t>
            </a:r>
          </a:p>
          <a:p>
            <a:endParaRPr lang="en-IN" dirty="0"/>
          </a:p>
        </p:txBody>
      </p:sp>
      <p:sp>
        <p:nvSpPr>
          <p:cNvPr id="4" name="Slide Number Placeholder 7">
            <a:extLst>
              <a:ext uri="{FF2B5EF4-FFF2-40B4-BE49-F238E27FC236}">
                <a16:creationId xmlns:a16="http://schemas.microsoft.com/office/drawing/2014/main" id="{4A05B4A9-E4BB-43ED-C8AC-B6F897127118}"/>
              </a:ext>
            </a:extLst>
          </p:cNvPr>
          <p:cNvSpPr txBox="1">
            <a:spLocks/>
          </p:cNvSpPr>
          <p:nvPr/>
        </p:nvSpPr>
        <p:spPr>
          <a:xfrm>
            <a:off x="8610600" y="6429375"/>
            <a:ext cx="2743200" cy="3651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spcBef>
                <a:spcPts val="0"/>
              </a:spcBef>
            </a:pPr>
            <a:fld id="{00000000-1234-1234-1234-123412341234}" type="slidenum">
              <a:rPr lang="en-IN" smtClean="0"/>
              <a:pPr algn="r">
                <a:spcBef>
                  <a:spcPts val="0"/>
                </a:spcBef>
              </a:pPr>
              <a:t>14</a:t>
            </a:fld>
            <a:endParaRPr lang="en-IN"/>
          </a:p>
        </p:txBody>
      </p:sp>
      <p:pic>
        <p:nvPicPr>
          <p:cNvPr id="5" name="Picture 4">
            <a:extLst>
              <a:ext uri="{FF2B5EF4-FFF2-40B4-BE49-F238E27FC236}">
                <a16:creationId xmlns:a16="http://schemas.microsoft.com/office/drawing/2014/main" id="{29D8849C-9829-1223-30EF-D9E8C9376A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0011" y="685800"/>
            <a:ext cx="6172200" cy="5175300"/>
          </a:xfrm>
          <a:prstGeom prst="rect">
            <a:avLst/>
          </a:prstGeom>
        </p:spPr>
      </p:pic>
    </p:spTree>
    <p:extLst>
      <p:ext uri="{BB962C8B-B14F-4D97-AF65-F5344CB8AC3E}">
        <p14:creationId xmlns:p14="http://schemas.microsoft.com/office/powerpoint/2010/main" val="434001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67641-5A2D-2772-E977-FD394AAF3301}"/>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3E6A92A7-87A9-0074-A7F7-4598AAE9C4CB}"/>
              </a:ext>
            </a:extLst>
          </p:cNvPr>
          <p:cNvSpPr>
            <a:spLocks noGrp="1"/>
          </p:cNvSpPr>
          <p:nvPr>
            <p:ph type="title"/>
          </p:nvPr>
        </p:nvSpPr>
        <p:spPr>
          <a:xfrm>
            <a:off x="839788" y="685800"/>
            <a:ext cx="3932100" cy="887361"/>
          </a:xfrm>
        </p:spPr>
        <p:txBody>
          <a:bodyPr/>
          <a:lstStyle/>
          <a:p>
            <a:r>
              <a:rPr lang="en-IN" b="1" dirty="0"/>
              <a:t>USER INTERFACE</a:t>
            </a:r>
            <a:endParaRPr lang="en-IN" dirty="0"/>
          </a:p>
        </p:txBody>
      </p:sp>
      <p:sp>
        <p:nvSpPr>
          <p:cNvPr id="3" name="Text Placeholder 14">
            <a:extLst>
              <a:ext uri="{FF2B5EF4-FFF2-40B4-BE49-F238E27FC236}">
                <a16:creationId xmlns:a16="http://schemas.microsoft.com/office/drawing/2014/main" id="{C9729C7C-4D0F-A473-B35A-8CBD8C550B99}"/>
              </a:ext>
            </a:extLst>
          </p:cNvPr>
          <p:cNvSpPr txBox="1">
            <a:spLocks/>
          </p:cNvSpPr>
          <p:nvPr/>
        </p:nvSpPr>
        <p:spPr>
          <a:xfrm>
            <a:off x="839788" y="1757516"/>
            <a:ext cx="3932100" cy="4103584"/>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Issues dashboard is where you can see all the issues reported by other users. The issues are sorted by categories, described in words and also featured with pictures, and the issue status is shown.</a:t>
            </a:r>
            <a:endParaRPr lang="en-IN" dirty="0"/>
          </a:p>
          <a:p>
            <a:r>
              <a:rPr lang="en-US" dirty="0"/>
              <a:t>Features:</a:t>
            </a:r>
            <a:endParaRPr lang="en-IN" dirty="0"/>
          </a:p>
          <a:p>
            <a:r>
              <a:rPr lang="en-US" dirty="0"/>
              <a:t>View all issues</a:t>
            </a:r>
            <a:endParaRPr lang="en-IN" dirty="0"/>
          </a:p>
          <a:p>
            <a:r>
              <a:rPr lang="en-US" dirty="0"/>
              <a:t>Filter by category (Road, Water, Electricity, etc.)</a:t>
            </a:r>
            <a:endParaRPr lang="en-IN" dirty="0"/>
          </a:p>
          <a:p>
            <a:r>
              <a:rPr lang="en-US" dirty="0"/>
              <a:t>See issue status (Pending, In Progress, Resolved)</a:t>
            </a:r>
            <a:endParaRPr lang="en-IN" dirty="0"/>
          </a:p>
          <a:p>
            <a:r>
              <a:rPr lang="en-US" dirty="0"/>
              <a:t>Search issues</a:t>
            </a:r>
            <a:endParaRPr lang="en-IN" dirty="0"/>
          </a:p>
          <a:p>
            <a:r>
              <a:rPr lang="en-US" dirty="0"/>
              <a:t>Report a new issue</a:t>
            </a:r>
            <a:endParaRPr lang="en-IN" dirty="0"/>
          </a:p>
          <a:p>
            <a:endParaRPr lang="en-IN" dirty="0"/>
          </a:p>
        </p:txBody>
      </p:sp>
      <p:sp>
        <p:nvSpPr>
          <p:cNvPr id="4" name="Slide Number Placeholder 7">
            <a:extLst>
              <a:ext uri="{FF2B5EF4-FFF2-40B4-BE49-F238E27FC236}">
                <a16:creationId xmlns:a16="http://schemas.microsoft.com/office/drawing/2014/main" id="{F868CE05-561E-60A8-820E-4FD376C115A8}"/>
              </a:ext>
            </a:extLst>
          </p:cNvPr>
          <p:cNvSpPr txBox="1">
            <a:spLocks/>
          </p:cNvSpPr>
          <p:nvPr/>
        </p:nvSpPr>
        <p:spPr>
          <a:xfrm>
            <a:off x="8610600" y="6429375"/>
            <a:ext cx="2743200" cy="3651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spcBef>
                <a:spcPts val="0"/>
              </a:spcBef>
            </a:pPr>
            <a:fld id="{00000000-1234-1234-1234-123412341234}" type="slidenum">
              <a:rPr lang="en-IN" smtClean="0"/>
              <a:pPr algn="r">
                <a:spcBef>
                  <a:spcPts val="0"/>
                </a:spcBef>
              </a:pPr>
              <a:t>15</a:t>
            </a:fld>
            <a:endParaRPr lang="en-IN"/>
          </a:p>
        </p:txBody>
      </p:sp>
      <p:pic>
        <p:nvPicPr>
          <p:cNvPr id="5" name="Picture 4">
            <a:extLst>
              <a:ext uri="{FF2B5EF4-FFF2-40B4-BE49-F238E27FC236}">
                <a16:creationId xmlns:a16="http://schemas.microsoft.com/office/drawing/2014/main" id="{D2FF86F7-C7DE-01DF-72A5-CE525E9237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0011" y="589935"/>
            <a:ext cx="6172200" cy="5271165"/>
          </a:xfrm>
          <a:prstGeom prst="rect">
            <a:avLst/>
          </a:prstGeom>
        </p:spPr>
      </p:pic>
    </p:spTree>
    <p:extLst>
      <p:ext uri="{BB962C8B-B14F-4D97-AF65-F5344CB8AC3E}">
        <p14:creationId xmlns:p14="http://schemas.microsoft.com/office/powerpoint/2010/main" val="722761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911E-DB06-F15C-C7D5-F0780C06A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3B0E6-FAED-2419-D65E-241085103702}"/>
              </a:ext>
            </a:extLst>
          </p:cNvPr>
          <p:cNvSpPr>
            <a:spLocks noGrp="1"/>
          </p:cNvSpPr>
          <p:nvPr>
            <p:ph type="title"/>
          </p:nvPr>
        </p:nvSpPr>
        <p:spPr>
          <a:xfrm>
            <a:off x="839788" y="685800"/>
            <a:ext cx="3932100" cy="759542"/>
          </a:xfrm>
        </p:spPr>
        <p:txBody>
          <a:bodyPr/>
          <a:lstStyle/>
          <a:p>
            <a:r>
              <a:rPr lang="en-IN" dirty="0"/>
              <a:t>REPORT AN ISSUE</a:t>
            </a:r>
          </a:p>
        </p:txBody>
      </p:sp>
      <p:sp>
        <p:nvSpPr>
          <p:cNvPr id="3" name="Text Placeholder 3">
            <a:extLst>
              <a:ext uri="{FF2B5EF4-FFF2-40B4-BE49-F238E27FC236}">
                <a16:creationId xmlns:a16="http://schemas.microsoft.com/office/drawing/2014/main" id="{A07A95D4-A57D-A95E-A3B6-E7CC2C2B68E2}"/>
              </a:ext>
            </a:extLst>
          </p:cNvPr>
          <p:cNvSpPr txBox="1">
            <a:spLocks/>
          </p:cNvSpPr>
          <p:nvPr/>
        </p:nvSpPr>
        <p:spPr>
          <a:xfrm>
            <a:off x="839788" y="1632155"/>
            <a:ext cx="3932100" cy="4236745"/>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00" dirty="0"/>
              <a:t>You can use this function to submit a new complaint. Simply fill out the details required and upload an image as needed.</a:t>
            </a:r>
            <a:endParaRPr lang="en-IN" sz="1900" dirty="0"/>
          </a:p>
          <a:p>
            <a:r>
              <a:rPr lang="en-US" sz="2000" dirty="0"/>
              <a:t>Steps:</a:t>
            </a:r>
            <a:endParaRPr lang="en-IN" sz="2000" dirty="0"/>
          </a:p>
          <a:p>
            <a:r>
              <a:rPr lang="en-US" sz="2000" dirty="0"/>
              <a:t>1. Click on “Report Issue”</a:t>
            </a:r>
            <a:endParaRPr lang="en-IN" sz="2000" dirty="0"/>
          </a:p>
          <a:p>
            <a:r>
              <a:rPr lang="en-US" sz="2000" dirty="0"/>
              <a:t>2. Enter title of issue</a:t>
            </a:r>
            <a:endParaRPr lang="en-IN" sz="2000" dirty="0"/>
          </a:p>
          <a:p>
            <a:r>
              <a:rPr lang="en-US" sz="2000" dirty="0"/>
              <a:t>3. Write description</a:t>
            </a:r>
            <a:endParaRPr lang="en-IN" sz="2000" dirty="0"/>
          </a:p>
          <a:p>
            <a:r>
              <a:rPr lang="en-US" sz="2000" dirty="0"/>
              <a:t>4. Select category</a:t>
            </a:r>
            <a:endParaRPr lang="en-IN" sz="2000" dirty="0"/>
          </a:p>
          <a:p>
            <a:r>
              <a:rPr lang="en-US" sz="2000" dirty="0"/>
              <a:t>5. Select severity</a:t>
            </a:r>
            <a:endParaRPr lang="en-IN" sz="2000" dirty="0"/>
          </a:p>
          <a:p>
            <a:r>
              <a:rPr lang="en-US" sz="2000" dirty="0"/>
              <a:t>6. Enter area/location</a:t>
            </a:r>
            <a:endParaRPr lang="en-IN" sz="2000" dirty="0"/>
          </a:p>
          <a:p>
            <a:r>
              <a:rPr lang="en-US" sz="2000" dirty="0"/>
              <a:t>7. Upload image</a:t>
            </a:r>
            <a:endParaRPr lang="en-IN" sz="2000" dirty="0"/>
          </a:p>
          <a:p>
            <a:r>
              <a:rPr lang="en-US" sz="2000" dirty="0"/>
              <a:t>8. Click “Submit Report”</a:t>
            </a:r>
            <a:endParaRPr lang="en-IN" dirty="0"/>
          </a:p>
          <a:p>
            <a:r>
              <a:rPr lang="en-US" sz="2200" dirty="0"/>
              <a:t>Complaints will be automatically analyzed using advanced artificial intelligence technology.</a:t>
            </a:r>
            <a:endParaRPr lang="en-IN" sz="2200" dirty="0"/>
          </a:p>
          <a:p>
            <a:endParaRPr lang="en-IN" dirty="0"/>
          </a:p>
        </p:txBody>
      </p:sp>
      <p:sp>
        <p:nvSpPr>
          <p:cNvPr id="4" name="Slide Number Placeholder 4">
            <a:extLst>
              <a:ext uri="{FF2B5EF4-FFF2-40B4-BE49-F238E27FC236}">
                <a16:creationId xmlns:a16="http://schemas.microsoft.com/office/drawing/2014/main" id="{FD1FF1D7-3B1F-81DA-2620-CFD26212E272}"/>
              </a:ext>
            </a:extLst>
          </p:cNvPr>
          <p:cNvSpPr txBox="1">
            <a:spLocks/>
          </p:cNvSpPr>
          <p:nvPr/>
        </p:nvSpPr>
        <p:spPr>
          <a:xfrm>
            <a:off x="8610600" y="6429375"/>
            <a:ext cx="2743200" cy="3651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spcBef>
                <a:spcPts val="0"/>
              </a:spcBef>
            </a:pPr>
            <a:fld id="{00000000-1234-1234-1234-123412341234}" type="slidenum">
              <a:rPr lang="en-IN" smtClean="0"/>
              <a:pPr algn="r">
                <a:spcBef>
                  <a:spcPts val="0"/>
                </a:spcBef>
              </a:pPr>
              <a:t>16</a:t>
            </a:fld>
            <a:endParaRPr lang="en-IN"/>
          </a:p>
        </p:txBody>
      </p:sp>
      <p:pic>
        <p:nvPicPr>
          <p:cNvPr id="5" name="Picture 4">
            <a:extLst>
              <a:ext uri="{FF2B5EF4-FFF2-40B4-BE49-F238E27FC236}">
                <a16:creationId xmlns:a16="http://schemas.microsoft.com/office/drawing/2014/main" id="{C4E5B5F4-C04E-93EC-9308-4E04C36E9F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0011" y="685800"/>
            <a:ext cx="6172200" cy="5183100"/>
          </a:xfrm>
          <a:prstGeom prst="rect">
            <a:avLst/>
          </a:prstGeom>
        </p:spPr>
      </p:pic>
    </p:spTree>
    <p:extLst>
      <p:ext uri="{BB962C8B-B14F-4D97-AF65-F5344CB8AC3E}">
        <p14:creationId xmlns:p14="http://schemas.microsoft.com/office/powerpoint/2010/main" val="83419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755D5-E71A-F588-1639-9213D3308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ADCC7-DA38-7019-C8DC-BAE7E6CB75F6}"/>
              </a:ext>
            </a:extLst>
          </p:cNvPr>
          <p:cNvSpPr>
            <a:spLocks noGrp="1"/>
          </p:cNvSpPr>
          <p:nvPr>
            <p:ph type="title"/>
          </p:nvPr>
        </p:nvSpPr>
        <p:spPr>
          <a:xfrm>
            <a:off x="707923" y="685800"/>
            <a:ext cx="4063965" cy="838200"/>
          </a:xfrm>
        </p:spPr>
        <p:txBody>
          <a:bodyPr/>
          <a:lstStyle/>
          <a:p>
            <a:r>
              <a:rPr lang="en-IN" dirty="0"/>
              <a:t>ADMIN  INTERFACE</a:t>
            </a:r>
          </a:p>
        </p:txBody>
      </p:sp>
      <p:sp>
        <p:nvSpPr>
          <p:cNvPr id="3" name="Text Placeholder 3">
            <a:extLst>
              <a:ext uri="{FF2B5EF4-FFF2-40B4-BE49-F238E27FC236}">
                <a16:creationId xmlns:a16="http://schemas.microsoft.com/office/drawing/2014/main" id="{674CFC91-C366-42AA-CD96-57E8A3A07C16}"/>
              </a:ext>
            </a:extLst>
          </p:cNvPr>
          <p:cNvSpPr txBox="1">
            <a:spLocks/>
          </p:cNvSpPr>
          <p:nvPr/>
        </p:nvSpPr>
        <p:spPr>
          <a:xfrm>
            <a:off x="839788" y="1691148"/>
            <a:ext cx="3932100" cy="4177752"/>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admin interface is where the authorities that run an organization using Trustable use it to manage complaints reported through the app. It’s also where they’ll see all the information about the status of every complaint that’s been submitted.</a:t>
            </a:r>
            <a:endParaRPr lang="en-IN" dirty="0"/>
          </a:p>
          <a:p>
            <a:r>
              <a:rPr lang="en-US" dirty="0"/>
              <a:t>Features:</a:t>
            </a:r>
            <a:endParaRPr lang="en-IN" dirty="0"/>
          </a:p>
          <a:p>
            <a:r>
              <a:rPr lang="en-US" dirty="0"/>
              <a:t>View all complaints</a:t>
            </a:r>
            <a:endParaRPr lang="en-IN" dirty="0"/>
          </a:p>
          <a:p>
            <a:r>
              <a:rPr lang="en-US" dirty="0"/>
              <a:t>Change ticket status (Pending to In Progress to Resolved)</a:t>
            </a:r>
            <a:endParaRPr lang="en-IN" dirty="0"/>
          </a:p>
          <a:p>
            <a:r>
              <a:rPr lang="en-US" dirty="0"/>
              <a:t>Delete complaints</a:t>
            </a:r>
            <a:endParaRPr lang="en-IN" dirty="0"/>
          </a:p>
          <a:p>
            <a:r>
              <a:rPr lang="en-US" dirty="0"/>
              <a:t>Prioritize issues based on severity</a:t>
            </a:r>
            <a:endParaRPr lang="en-IN" dirty="0"/>
          </a:p>
          <a:p>
            <a:r>
              <a:rPr lang="en-US" dirty="0"/>
              <a:t>This helps in efficient management and faster resolution.</a:t>
            </a:r>
            <a:endParaRPr lang="en-IN" dirty="0"/>
          </a:p>
          <a:p>
            <a:endParaRPr lang="en-IN" dirty="0"/>
          </a:p>
        </p:txBody>
      </p:sp>
      <p:sp>
        <p:nvSpPr>
          <p:cNvPr id="4" name="Slide Number Placeholder 4">
            <a:extLst>
              <a:ext uri="{FF2B5EF4-FFF2-40B4-BE49-F238E27FC236}">
                <a16:creationId xmlns:a16="http://schemas.microsoft.com/office/drawing/2014/main" id="{4779CB53-411D-B3D7-BA65-6AB775B02974}"/>
              </a:ext>
            </a:extLst>
          </p:cNvPr>
          <p:cNvSpPr txBox="1">
            <a:spLocks/>
          </p:cNvSpPr>
          <p:nvPr/>
        </p:nvSpPr>
        <p:spPr>
          <a:xfrm>
            <a:off x="8610600" y="6429375"/>
            <a:ext cx="2743200" cy="3651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spcBef>
                <a:spcPts val="0"/>
              </a:spcBef>
            </a:pPr>
            <a:fld id="{00000000-1234-1234-1234-123412341234}" type="slidenum">
              <a:rPr lang="en-IN" smtClean="0"/>
              <a:pPr algn="r">
                <a:spcBef>
                  <a:spcPts val="0"/>
                </a:spcBef>
              </a:pPr>
              <a:t>17</a:t>
            </a:fld>
            <a:endParaRPr lang="en-IN"/>
          </a:p>
        </p:txBody>
      </p:sp>
      <p:pic>
        <p:nvPicPr>
          <p:cNvPr id="5" name="Picture 4">
            <a:extLst>
              <a:ext uri="{FF2B5EF4-FFF2-40B4-BE49-F238E27FC236}">
                <a16:creationId xmlns:a16="http://schemas.microsoft.com/office/drawing/2014/main" id="{E8B61983-B5A3-98F4-A8AB-78BB7905CB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0012" y="685800"/>
            <a:ext cx="6172200" cy="5183100"/>
          </a:xfrm>
          <a:prstGeom prst="rect">
            <a:avLst/>
          </a:prstGeom>
        </p:spPr>
      </p:pic>
    </p:spTree>
    <p:extLst>
      <p:ext uri="{BB962C8B-B14F-4D97-AF65-F5344CB8AC3E}">
        <p14:creationId xmlns:p14="http://schemas.microsoft.com/office/powerpoint/2010/main" val="1457473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57D1E4C-D8C7-3B78-D1ED-F15FB5594D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3695" y="2265870"/>
            <a:ext cx="5125182" cy="4569307"/>
          </a:xfrm>
          <a:prstGeom prst="rect">
            <a:avLst/>
          </a:prstGeom>
        </p:spPr>
      </p:pic>
      <p:sp>
        <p:nvSpPr>
          <p:cNvPr id="8" name="TextBox 7">
            <a:extLst>
              <a:ext uri="{FF2B5EF4-FFF2-40B4-BE49-F238E27FC236}">
                <a16:creationId xmlns:a16="http://schemas.microsoft.com/office/drawing/2014/main" id="{300E0AD9-2BFD-CEA7-850B-05E8A9580FFF}"/>
              </a:ext>
            </a:extLst>
          </p:cNvPr>
          <p:cNvSpPr txBox="1"/>
          <p:nvPr/>
        </p:nvSpPr>
        <p:spPr>
          <a:xfrm>
            <a:off x="567695" y="711595"/>
            <a:ext cx="6096000" cy="6186309"/>
          </a:xfrm>
          <a:prstGeom prst="rect">
            <a:avLst/>
          </a:prstGeom>
          <a:noFill/>
        </p:spPr>
        <p:txBody>
          <a:bodyPr wrap="square">
            <a:spAutoFit/>
          </a:bodyPr>
          <a:lstStyle/>
          <a:p>
            <a:pPr>
              <a:buNone/>
            </a:pPr>
            <a:r>
              <a:rPr lang="en-IN" b="1" dirty="0"/>
              <a:t>Multimodal Classification Approach</a:t>
            </a:r>
          </a:p>
          <a:p>
            <a:pPr>
              <a:buNone/>
            </a:pPr>
            <a:endParaRPr lang="en-IN" b="1" dirty="0"/>
          </a:p>
          <a:p>
            <a:pPr>
              <a:buNone/>
            </a:pPr>
            <a:r>
              <a:rPr lang="en-IN" dirty="0" err="1"/>
              <a:t>CityTrack</a:t>
            </a:r>
            <a:r>
              <a:rPr lang="en-IN" dirty="0"/>
              <a:t> uses a </a:t>
            </a:r>
            <a:r>
              <a:rPr lang="en-IN" b="1" dirty="0"/>
              <a:t>multimodal AI framework</a:t>
            </a:r>
            <a:r>
              <a:rPr lang="en-IN" dirty="0"/>
              <a:t> that combines:</a:t>
            </a:r>
          </a:p>
          <a:p>
            <a:pPr>
              <a:buFont typeface="Arial" panose="020B0604020202020204" pitchFamily="34" charset="0"/>
              <a:buChar char="•"/>
            </a:pPr>
            <a:r>
              <a:rPr lang="en-IN" dirty="0"/>
              <a:t>Text-based complaint description</a:t>
            </a:r>
          </a:p>
          <a:p>
            <a:pPr>
              <a:buFont typeface="Arial" panose="020B0604020202020204" pitchFamily="34" charset="0"/>
              <a:buChar char="•"/>
            </a:pPr>
            <a:r>
              <a:rPr lang="en-IN" dirty="0"/>
              <a:t>Image-based visual evidence</a:t>
            </a:r>
          </a:p>
          <a:p>
            <a:pPr>
              <a:buFont typeface="Arial" panose="020B0604020202020204" pitchFamily="34" charset="0"/>
              <a:buChar char="•"/>
            </a:pPr>
            <a:r>
              <a:rPr lang="en-IN" dirty="0"/>
              <a:t>Historical complaint patterns</a:t>
            </a:r>
          </a:p>
          <a:p>
            <a:endParaRPr lang="en-IN" dirty="0"/>
          </a:p>
          <a:p>
            <a:pPr>
              <a:buNone/>
            </a:pPr>
            <a:r>
              <a:rPr lang="en-IN" b="1" dirty="0"/>
              <a:t>Text Classification Module</a:t>
            </a:r>
          </a:p>
          <a:p>
            <a:pPr>
              <a:buFont typeface="Arial" panose="020B0604020202020204" pitchFamily="34" charset="0"/>
              <a:buChar char="•"/>
            </a:pPr>
            <a:r>
              <a:rPr lang="en-IN" dirty="0"/>
              <a:t>Model Used: </a:t>
            </a:r>
            <a:r>
              <a:rPr lang="en-IN" b="1" dirty="0"/>
              <a:t>Fine-tuned </a:t>
            </a:r>
            <a:r>
              <a:rPr lang="en-IN" b="1" dirty="0" err="1"/>
              <a:t>DistilBERT</a:t>
            </a:r>
            <a:endParaRPr lang="en-IN" dirty="0"/>
          </a:p>
          <a:p>
            <a:pPr>
              <a:buFont typeface="Arial" panose="020B0604020202020204" pitchFamily="34" charset="0"/>
              <a:buChar char="•"/>
            </a:pPr>
            <a:r>
              <a:rPr lang="en-IN" dirty="0"/>
              <a:t>Input: User complaint text</a:t>
            </a:r>
          </a:p>
          <a:p>
            <a:pPr>
              <a:buFont typeface="Arial" panose="020B0604020202020204" pitchFamily="34" charset="0"/>
              <a:buChar char="•"/>
            </a:pPr>
            <a:r>
              <a:rPr lang="en-IN" dirty="0"/>
              <a:t>Output: Probability score for each category</a:t>
            </a:r>
          </a:p>
          <a:p>
            <a:endParaRPr lang="en-IN" dirty="0"/>
          </a:p>
          <a:p>
            <a:pPr>
              <a:buNone/>
            </a:pPr>
            <a:r>
              <a:rPr lang="en-IN" b="1" dirty="0"/>
              <a:t>Example Output:</a:t>
            </a:r>
            <a:endParaRPr lang="en-IN" dirty="0"/>
          </a:p>
          <a:p>
            <a:pPr>
              <a:buFont typeface="Arial" panose="020B0604020202020204" pitchFamily="34" charset="0"/>
              <a:buChar char="•"/>
            </a:pPr>
            <a:r>
              <a:rPr lang="en-IN" dirty="0"/>
              <a:t>Roads: 0.82</a:t>
            </a:r>
          </a:p>
          <a:p>
            <a:pPr>
              <a:buFont typeface="Arial" panose="020B0604020202020204" pitchFamily="34" charset="0"/>
              <a:buChar char="•"/>
            </a:pPr>
            <a:r>
              <a:rPr lang="en-IN" dirty="0"/>
              <a:t>Sanitation: 0.05</a:t>
            </a:r>
          </a:p>
          <a:p>
            <a:pPr>
              <a:buFont typeface="Arial" panose="020B0604020202020204" pitchFamily="34" charset="0"/>
              <a:buChar char="•"/>
            </a:pPr>
            <a:r>
              <a:rPr lang="en-IN" dirty="0"/>
              <a:t>Electricity: 0.03</a:t>
            </a:r>
          </a:p>
          <a:p>
            <a:pPr>
              <a:buFont typeface="Arial" panose="020B0604020202020204" pitchFamily="34" charset="0"/>
              <a:buChar char="•"/>
            </a:pPr>
            <a:r>
              <a:rPr lang="en-IN" dirty="0"/>
              <a:t>Water: 0.10</a:t>
            </a:r>
          </a:p>
          <a:p>
            <a:pPr>
              <a:buNone/>
            </a:pPr>
            <a:r>
              <a:rPr lang="en-IN" dirty="0"/>
              <a:t>The category with the highest probability is selected.</a:t>
            </a:r>
          </a:p>
          <a:p>
            <a:pPr>
              <a:buNone/>
            </a:pPr>
            <a:endParaRPr lang="en-IN" dirty="0"/>
          </a:p>
          <a:p>
            <a:pPr>
              <a:buNone/>
            </a:pPr>
            <a:r>
              <a:rPr lang="en-IN" b="1" dirty="0"/>
              <a:t>Image Classification Module</a:t>
            </a:r>
          </a:p>
          <a:p>
            <a:pPr>
              <a:buFont typeface="Arial" panose="020B0604020202020204" pitchFamily="34" charset="0"/>
              <a:buChar char="•"/>
            </a:pPr>
            <a:r>
              <a:rPr lang="en-IN" dirty="0"/>
              <a:t>Model Used: </a:t>
            </a:r>
            <a:r>
              <a:rPr lang="en-IN" b="1" dirty="0"/>
              <a:t>MobileNetV3 </a:t>
            </a:r>
            <a:r>
              <a:rPr lang="en-IN" dirty="0"/>
              <a:t>Input: Uploaded image</a:t>
            </a:r>
          </a:p>
          <a:p>
            <a:pPr>
              <a:buFont typeface="Arial" panose="020B0604020202020204" pitchFamily="34" charset="0"/>
              <a:buChar char="•"/>
            </a:pPr>
            <a:r>
              <a:rPr lang="en-IN" dirty="0"/>
              <a:t>Output: Visual category prediction</a:t>
            </a:r>
          </a:p>
        </p:txBody>
      </p:sp>
      <p:sp>
        <p:nvSpPr>
          <p:cNvPr id="10" name="TextBox 9">
            <a:extLst>
              <a:ext uri="{FF2B5EF4-FFF2-40B4-BE49-F238E27FC236}">
                <a16:creationId xmlns:a16="http://schemas.microsoft.com/office/drawing/2014/main" id="{6F039D17-945A-747E-A4C9-5CC8FB4DA843}"/>
              </a:ext>
            </a:extLst>
          </p:cNvPr>
          <p:cNvSpPr txBox="1"/>
          <p:nvPr/>
        </p:nvSpPr>
        <p:spPr>
          <a:xfrm>
            <a:off x="7629833" y="711595"/>
            <a:ext cx="6096000" cy="1477328"/>
          </a:xfrm>
          <a:prstGeom prst="rect">
            <a:avLst/>
          </a:prstGeom>
          <a:noFill/>
        </p:spPr>
        <p:txBody>
          <a:bodyPr wrap="square">
            <a:spAutoFit/>
          </a:bodyPr>
          <a:lstStyle/>
          <a:p>
            <a:pPr>
              <a:buNone/>
            </a:pPr>
            <a:r>
              <a:rPr lang="en-IN" b="1" dirty="0"/>
              <a:t>Example Output:</a:t>
            </a:r>
            <a:endParaRPr lang="en-IN" dirty="0"/>
          </a:p>
          <a:p>
            <a:pPr>
              <a:buFont typeface="Arial" panose="020B0604020202020204" pitchFamily="34" charset="0"/>
              <a:buChar char="•"/>
            </a:pPr>
            <a:r>
              <a:rPr lang="en-IN" dirty="0"/>
              <a:t>Pothole: 0.76</a:t>
            </a:r>
          </a:p>
          <a:p>
            <a:pPr>
              <a:buFont typeface="Arial" panose="020B0604020202020204" pitchFamily="34" charset="0"/>
              <a:buChar char="•"/>
            </a:pPr>
            <a:r>
              <a:rPr lang="en-IN" dirty="0"/>
              <a:t>Garbage: 0.12</a:t>
            </a:r>
          </a:p>
          <a:p>
            <a:pPr>
              <a:buFont typeface="Arial" panose="020B0604020202020204" pitchFamily="34" charset="0"/>
              <a:buChar char="•"/>
            </a:pPr>
            <a:r>
              <a:rPr lang="en-IN" dirty="0"/>
              <a:t>Broken Light: 0.08</a:t>
            </a:r>
          </a:p>
          <a:p>
            <a:pPr>
              <a:buFont typeface="Arial" panose="020B0604020202020204" pitchFamily="34" charset="0"/>
              <a:buChar char="•"/>
            </a:pPr>
            <a:r>
              <a:rPr lang="en-IN" dirty="0"/>
              <a:t>Water Leakage: 0.04</a:t>
            </a:r>
          </a:p>
        </p:txBody>
      </p:sp>
      <p:sp>
        <p:nvSpPr>
          <p:cNvPr id="12" name="TextBox 11">
            <a:extLst>
              <a:ext uri="{FF2B5EF4-FFF2-40B4-BE49-F238E27FC236}">
                <a16:creationId xmlns:a16="http://schemas.microsoft.com/office/drawing/2014/main" id="{2FB37295-6E17-E1C8-57B9-9800155503C8}"/>
              </a:ext>
            </a:extLst>
          </p:cNvPr>
          <p:cNvSpPr txBox="1"/>
          <p:nvPr/>
        </p:nvSpPr>
        <p:spPr>
          <a:xfrm>
            <a:off x="3232237" y="234538"/>
            <a:ext cx="6862916" cy="400110"/>
          </a:xfrm>
          <a:prstGeom prst="rect">
            <a:avLst/>
          </a:prstGeom>
          <a:noFill/>
        </p:spPr>
        <p:txBody>
          <a:bodyPr wrap="square">
            <a:spAutoFit/>
          </a:bodyPr>
          <a:lstStyle/>
          <a:p>
            <a:pPr>
              <a:buNone/>
            </a:pPr>
            <a:r>
              <a:rPr lang="en-IN" sz="2000" b="1" dirty="0"/>
              <a:t>AI-BASED COMPLAINT CLASSIFICATION SYSTEM</a:t>
            </a:r>
          </a:p>
        </p:txBody>
      </p:sp>
    </p:spTree>
    <p:extLst>
      <p:ext uri="{BB962C8B-B14F-4D97-AF65-F5344CB8AC3E}">
        <p14:creationId xmlns:p14="http://schemas.microsoft.com/office/powerpoint/2010/main" val="4061386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19511C-1386-6A07-FCD8-107DAC88FAD4}"/>
              </a:ext>
            </a:extLst>
          </p:cNvPr>
          <p:cNvSpPr txBox="1"/>
          <p:nvPr/>
        </p:nvSpPr>
        <p:spPr>
          <a:xfrm>
            <a:off x="580104" y="1623786"/>
            <a:ext cx="6096000" cy="3416320"/>
          </a:xfrm>
          <a:prstGeom prst="rect">
            <a:avLst/>
          </a:prstGeom>
          <a:noFill/>
        </p:spPr>
        <p:txBody>
          <a:bodyPr wrap="square">
            <a:spAutoFit/>
          </a:bodyPr>
          <a:lstStyle/>
          <a:p>
            <a:pPr>
              <a:buNone/>
            </a:pPr>
            <a:r>
              <a:rPr lang="en-GB" b="1" dirty="0"/>
              <a:t>Importance of Severity Prediction</a:t>
            </a:r>
          </a:p>
          <a:p>
            <a:pPr>
              <a:buNone/>
            </a:pPr>
            <a:r>
              <a:rPr lang="en-GB" dirty="0"/>
              <a:t>Severity prediction helps municipal departments to:</a:t>
            </a:r>
          </a:p>
          <a:p>
            <a:pPr>
              <a:buFont typeface="Arial" panose="020B0604020202020204" pitchFamily="34" charset="0"/>
              <a:buChar char="•"/>
            </a:pPr>
            <a:r>
              <a:rPr lang="en-GB" dirty="0"/>
              <a:t>Prioritize critical issues</a:t>
            </a:r>
          </a:p>
          <a:p>
            <a:pPr>
              <a:buFont typeface="Arial" panose="020B0604020202020204" pitchFamily="34" charset="0"/>
              <a:buChar char="•"/>
            </a:pPr>
            <a:r>
              <a:rPr lang="en-GB" dirty="0"/>
              <a:t>Optimize resource allocation</a:t>
            </a:r>
          </a:p>
          <a:p>
            <a:pPr>
              <a:buFont typeface="Arial" panose="020B0604020202020204" pitchFamily="34" charset="0"/>
              <a:buChar char="•"/>
            </a:pPr>
            <a:r>
              <a:rPr lang="en-GB" dirty="0"/>
              <a:t>Reduce public safety risks</a:t>
            </a:r>
          </a:p>
          <a:p>
            <a:endParaRPr lang="en-GB" dirty="0"/>
          </a:p>
          <a:p>
            <a:pPr>
              <a:buNone/>
            </a:pPr>
            <a:r>
              <a:rPr lang="en-GB" b="1" dirty="0"/>
              <a:t>Parameters Used</a:t>
            </a:r>
          </a:p>
          <a:p>
            <a:pPr>
              <a:buNone/>
            </a:pPr>
            <a:r>
              <a:rPr lang="en-GB" dirty="0"/>
              <a:t>Severity is calculated based on:</a:t>
            </a:r>
          </a:p>
          <a:p>
            <a:pPr>
              <a:buFont typeface="Arial" panose="020B0604020202020204" pitchFamily="34" charset="0"/>
              <a:buChar char="•"/>
            </a:pPr>
            <a:r>
              <a:rPr lang="en-GB" dirty="0"/>
              <a:t>Keywords in complaint text</a:t>
            </a:r>
          </a:p>
          <a:p>
            <a:pPr>
              <a:buFont typeface="Arial" panose="020B0604020202020204" pitchFamily="34" charset="0"/>
              <a:buChar char="•"/>
            </a:pPr>
            <a:r>
              <a:rPr lang="en-GB" dirty="0"/>
              <a:t>Image-based damage assessment</a:t>
            </a:r>
          </a:p>
          <a:p>
            <a:pPr>
              <a:buFont typeface="Arial" panose="020B0604020202020204" pitchFamily="34" charset="0"/>
              <a:buChar char="•"/>
            </a:pPr>
            <a:r>
              <a:rPr lang="en-GB" dirty="0"/>
              <a:t>Traffic importance of location</a:t>
            </a:r>
          </a:p>
          <a:p>
            <a:pPr>
              <a:buFont typeface="Arial" panose="020B0604020202020204" pitchFamily="34" charset="0"/>
              <a:buChar char="•"/>
            </a:pPr>
            <a:r>
              <a:rPr lang="en-GB" dirty="0"/>
              <a:t>Citizen upvotes</a:t>
            </a:r>
          </a:p>
        </p:txBody>
      </p:sp>
      <p:sp>
        <p:nvSpPr>
          <p:cNvPr id="7" name="TextBox 6">
            <a:extLst>
              <a:ext uri="{FF2B5EF4-FFF2-40B4-BE49-F238E27FC236}">
                <a16:creationId xmlns:a16="http://schemas.microsoft.com/office/drawing/2014/main" id="{A8037E05-7276-109A-A499-C852DB935ED2}"/>
              </a:ext>
            </a:extLst>
          </p:cNvPr>
          <p:cNvSpPr txBox="1"/>
          <p:nvPr/>
        </p:nvSpPr>
        <p:spPr>
          <a:xfrm>
            <a:off x="6096000" y="1582340"/>
            <a:ext cx="6096000" cy="4247317"/>
          </a:xfrm>
          <a:prstGeom prst="rect">
            <a:avLst/>
          </a:prstGeom>
          <a:noFill/>
        </p:spPr>
        <p:txBody>
          <a:bodyPr wrap="square">
            <a:spAutoFit/>
          </a:bodyPr>
          <a:lstStyle/>
          <a:p>
            <a:pPr>
              <a:buNone/>
            </a:pPr>
            <a:r>
              <a:rPr lang="en-GB" b="1" dirty="0"/>
              <a:t>Severity Formula</a:t>
            </a:r>
          </a:p>
          <a:p>
            <a:pPr>
              <a:buNone/>
            </a:pPr>
            <a:r>
              <a:rPr lang="en-GB" dirty="0"/>
              <a:t>Severity Score =</a:t>
            </a:r>
            <a:br>
              <a:rPr lang="en-GB" dirty="0"/>
            </a:br>
            <a:r>
              <a:rPr lang="en-GB" dirty="0"/>
              <a:t>0.7 × AI Severity Output + 0.3 × Traffic Importance Score</a:t>
            </a:r>
          </a:p>
          <a:p>
            <a:pPr>
              <a:buNone/>
            </a:pPr>
            <a:endParaRPr lang="en-GB" dirty="0"/>
          </a:p>
          <a:p>
            <a:pPr>
              <a:buNone/>
            </a:pPr>
            <a:r>
              <a:rPr lang="en-GB" b="1" dirty="0"/>
              <a:t>Severity Classification</a:t>
            </a:r>
          </a:p>
          <a:p>
            <a:pPr>
              <a:buFont typeface="Arial" panose="020B0604020202020204" pitchFamily="34" charset="0"/>
              <a:buChar char="•"/>
            </a:pPr>
            <a:r>
              <a:rPr lang="en-GB" dirty="0"/>
              <a:t>0.00 – 0.33 → Low</a:t>
            </a:r>
          </a:p>
          <a:p>
            <a:pPr>
              <a:buFont typeface="Arial" panose="020B0604020202020204" pitchFamily="34" charset="0"/>
              <a:buChar char="•"/>
            </a:pPr>
            <a:r>
              <a:rPr lang="en-GB" dirty="0"/>
              <a:t>0.34 – 0.66 → Medium</a:t>
            </a:r>
          </a:p>
          <a:p>
            <a:pPr>
              <a:buFont typeface="Arial" panose="020B0604020202020204" pitchFamily="34" charset="0"/>
              <a:buChar char="•"/>
            </a:pPr>
            <a:r>
              <a:rPr lang="en-GB" dirty="0"/>
              <a:t>0.67 – 1.00 → High</a:t>
            </a:r>
          </a:p>
          <a:p>
            <a:endParaRPr lang="en-GB" dirty="0"/>
          </a:p>
          <a:p>
            <a:pPr>
              <a:buNone/>
            </a:pPr>
            <a:r>
              <a:rPr lang="en-GB" b="1" dirty="0"/>
              <a:t>Example</a:t>
            </a:r>
          </a:p>
          <a:p>
            <a:pPr>
              <a:buNone/>
            </a:pPr>
            <a:r>
              <a:rPr lang="en-GB" dirty="0"/>
              <a:t>Large pothole on highway:</a:t>
            </a:r>
          </a:p>
          <a:p>
            <a:pPr>
              <a:buFont typeface="Arial" panose="020B0604020202020204" pitchFamily="34" charset="0"/>
              <a:buChar char="•"/>
            </a:pPr>
            <a:r>
              <a:rPr lang="en-GB" dirty="0"/>
              <a:t>Text Severity: 0.72</a:t>
            </a:r>
          </a:p>
          <a:p>
            <a:pPr>
              <a:buFont typeface="Arial" panose="020B0604020202020204" pitchFamily="34" charset="0"/>
              <a:buChar char="•"/>
            </a:pPr>
            <a:r>
              <a:rPr lang="en-GB" dirty="0"/>
              <a:t>Image Severity: 0.80</a:t>
            </a:r>
          </a:p>
          <a:p>
            <a:pPr>
              <a:buFont typeface="Arial" panose="020B0604020202020204" pitchFamily="34" charset="0"/>
              <a:buChar char="•"/>
            </a:pPr>
            <a:r>
              <a:rPr lang="en-GB" dirty="0"/>
              <a:t>Traffic Score: 0.85</a:t>
            </a:r>
          </a:p>
          <a:p>
            <a:pPr>
              <a:buFont typeface="Arial" panose="020B0604020202020204" pitchFamily="34" charset="0"/>
              <a:buChar char="•"/>
            </a:pPr>
            <a:r>
              <a:rPr lang="en-GB" dirty="0"/>
              <a:t>Final Severity: 0.77 (High Priority)</a:t>
            </a:r>
          </a:p>
        </p:txBody>
      </p:sp>
      <p:sp>
        <p:nvSpPr>
          <p:cNvPr id="9" name="TextBox 8">
            <a:extLst>
              <a:ext uri="{FF2B5EF4-FFF2-40B4-BE49-F238E27FC236}">
                <a16:creationId xmlns:a16="http://schemas.microsoft.com/office/drawing/2014/main" id="{D5E10006-0B17-4878-FD25-D770A294ABE0}"/>
              </a:ext>
            </a:extLst>
          </p:cNvPr>
          <p:cNvSpPr txBox="1"/>
          <p:nvPr/>
        </p:nvSpPr>
        <p:spPr>
          <a:xfrm>
            <a:off x="3185651" y="531179"/>
            <a:ext cx="6096000" cy="523220"/>
          </a:xfrm>
          <a:prstGeom prst="rect">
            <a:avLst/>
          </a:prstGeom>
          <a:noFill/>
        </p:spPr>
        <p:txBody>
          <a:bodyPr wrap="square">
            <a:spAutoFit/>
          </a:bodyPr>
          <a:lstStyle/>
          <a:p>
            <a:pPr>
              <a:buNone/>
            </a:pPr>
            <a:r>
              <a:rPr lang="en-GB" sz="2800" b="1" dirty="0"/>
              <a:t>SEVERITY PREDICTION LOGIC</a:t>
            </a:r>
          </a:p>
        </p:txBody>
      </p:sp>
    </p:spTree>
    <p:extLst>
      <p:ext uri="{BB962C8B-B14F-4D97-AF65-F5344CB8AC3E}">
        <p14:creationId xmlns:p14="http://schemas.microsoft.com/office/powerpoint/2010/main" val="3064996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585BAA6-CD4D-A3CB-1121-5C6BF55FBC28}"/>
              </a:ext>
            </a:extLst>
          </p:cNvPr>
          <p:cNvSpPr txBox="1"/>
          <p:nvPr/>
        </p:nvSpPr>
        <p:spPr>
          <a:xfrm>
            <a:off x="570272" y="1450873"/>
            <a:ext cx="5407741" cy="4801314"/>
          </a:xfrm>
          <a:prstGeom prst="rect">
            <a:avLst/>
          </a:prstGeom>
          <a:noFill/>
        </p:spPr>
        <p:txBody>
          <a:bodyPr wrap="square">
            <a:spAutoFit/>
          </a:bodyPr>
          <a:lstStyle/>
          <a:p>
            <a:pPr>
              <a:buNone/>
            </a:pPr>
            <a:r>
              <a:rPr lang="en-GB" b="1" dirty="0"/>
              <a:t>Why Duplicate Detection Is Important</a:t>
            </a:r>
          </a:p>
          <a:p>
            <a:pPr>
              <a:buNone/>
            </a:pPr>
            <a:r>
              <a:rPr lang="en-GB" dirty="0"/>
              <a:t>Multiple users often report the same issue, which causes:</a:t>
            </a:r>
          </a:p>
          <a:p>
            <a:pPr>
              <a:buFont typeface="Arial" panose="020B0604020202020204" pitchFamily="34" charset="0"/>
              <a:buChar char="•"/>
            </a:pPr>
            <a:r>
              <a:rPr lang="en-GB" dirty="0"/>
              <a:t>Database overload</a:t>
            </a:r>
          </a:p>
          <a:p>
            <a:pPr>
              <a:buFont typeface="Arial" panose="020B0604020202020204" pitchFamily="34" charset="0"/>
              <a:buChar char="•"/>
            </a:pPr>
            <a:r>
              <a:rPr lang="en-GB" dirty="0"/>
              <a:t>Repeated work assignments</a:t>
            </a:r>
          </a:p>
          <a:p>
            <a:pPr>
              <a:buFont typeface="Arial" panose="020B0604020202020204" pitchFamily="34" charset="0"/>
              <a:buChar char="•"/>
            </a:pPr>
            <a:r>
              <a:rPr lang="en-GB" dirty="0"/>
              <a:t>Inefficient resource utilization</a:t>
            </a:r>
          </a:p>
          <a:p>
            <a:endParaRPr lang="en-GB" dirty="0"/>
          </a:p>
          <a:p>
            <a:pPr>
              <a:buNone/>
            </a:pPr>
            <a:r>
              <a:rPr lang="en-GB" b="1" dirty="0"/>
              <a:t>CityTrack Duplicate Detection Approach</a:t>
            </a:r>
          </a:p>
          <a:p>
            <a:pPr>
              <a:buNone/>
            </a:pPr>
            <a:r>
              <a:rPr lang="en-GB" dirty="0"/>
              <a:t>CityTrack uses a </a:t>
            </a:r>
            <a:r>
              <a:rPr lang="en-GB" b="1" dirty="0"/>
              <a:t>three-level similarity checking system</a:t>
            </a:r>
            <a:r>
              <a:rPr lang="en-GB" dirty="0"/>
              <a:t>:</a:t>
            </a:r>
          </a:p>
          <a:p>
            <a:pPr>
              <a:buNone/>
            </a:pPr>
            <a:r>
              <a:rPr lang="en-GB" b="1" dirty="0"/>
              <a:t>1. Location Similarity</a:t>
            </a:r>
          </a:p>
          <a:p>
            <a:pPr>
              <a:buFont typeface="Arial" panose="020B0604020202020204" pitchFamily="34" charset="0"/>
              <a:buChar char="•"/>
            </a:pPr>
            <a:r>
              <a:rPr lang="en-GB" dirty="0"/>
              <a:t>Radius-based matching (within 30 meters)</a:t>
            </a:r>
          </a:p>
          <a:p>
            <a:pPr>
              <a:buFont typeface="Arial" panose="020B0604020202020204" pitchFamily="34" charset="0"/>
              <a:buChar char="•"/>
            </a:pPr>
            <a:r>
              <a:rPr lang="en-GB" dirty="0"/>
              <a:t>GPS coordinate comparison</a:t>
            </a:r>
          </a:p>
          <a:p>
            <a:endParaRPr lang="en-GB" dirty="0"/>
          </a:p>
          <a:p>
            <a:pPr>
              <a:buNone/>
            </a:pPr>
            <a:r>
              <a:rPr lang="en-GB" b="1" dirty="0"/>
              <a:t>2. Text Similarity</a:t>
            </a:r>
          </a:p>
          <a:p>
            <a:pPr>
              <a:buFont typeface="Arial" panose="020B0604020202020204" pitchFamily="34" charset="0"/>
              <a:buChar char="•"/>
            </a:pPr>
            <a:r>
              <a:rPr lang="en-GB" dirty="0"/>
              <a:t>Model Used: </a:t>
            </a:r>
            <a:r>
              <a:rPr lang="en-GB" b="1" dirty="0"/>
              <a:t>Sentence-BERT embeddings</a:t>
            </a:r>
            <a:endParaRPr lang="en-GB" dirty="0"/>
          </a:p>
          <a:p>
            <a:pPr>
              <a:buFont typeface="Arial" panose="020B0604020202020204" pitchFamily="34" charset="0"/>
              <a:buChar char="•"/>
            </a:pPr>
            <a:r>
              <a:rPr lang="en-GB" dirty="0"/>
              <a:t>Semantic similarity comparison</a:t>
            </a:r>
          </a:p>
          <a:p>
            <a:pPr>
              <a:buFont typeface="Arial" panose="020B0604020202020204" pitchFamily="34" charset="0"/>
              <a:buChar char="•"/>
            </a:pPr>
            <a:r>
              <a:rPr lang="en-GB" dirty="0"/>
              <a:t>Captures meaning instead of just keywords</a:t>
            </a:r>
          </a:p>
          <a:p>
            <a:pPr>
              <a:buNone/>
            </a:pPr>
            <a:endParaRPr lang="en-GB" dirty="0"/>
          </a:p>
        </p:txBody>
      </p:sp>
      <p:sp>
        <p:nvSpPr>
          <p:cNvPr id="9" name="TextBox 8">
            <a:extLst>
              <a:ext uri="{FF2B5EF4-FFF2-40B4-BE49-F238E27FC236}">
                <a16:creationId xmlns:a16="http://schemas.microsoft.com/office/drawing/2014/main" id="{0B040FC1-E21C-A68A-A69E-9513EF721D6F}"/>
              </a:ext>
            </a:extLst>
          </p:cNvPr>
          <p:cNvSpPr txBox="1"/>
          <p:nvPr/>
        </p:nvSpPr>
        <p:spPr>
          <a:xfrm>
            <a:off x="6096000" y="1450873"/>
            <a:ext cx="6096000" cy="3693319"/>
          </a:xfrm>
          <a:prstGeom prst="rect">
            <a:avLst/>
          </a:prstGeom>
          <a:noFill/>
        </p:spPr>
        <p:txBody>
          <a:bodyPr wrap="square">
            <a:spAutoFit/>
          </a:bodyPr>
          <a:lstStyle/>
          <a:p>
            <a:pPr>
              <a:buNone/>
            </a:pPr>
            <a:r>
              <a:rPr lang="en-GB" b="1" dirty="0"/>
              <a:t>3. Image Similarity</a:t>
            </a:r>
          </a:p>
          <a:p>
            <a:pPr>
              <a:buFont typeface="Arial" panose="020B0604020202020204" pitchFamily="34" charset="0"/>
              <a:buChar char="•"/>
            </a:pPr>
            <a:r>
              <a:rPr lang="en-GB" dirty="0"/>
              <a:t>Feature vector extraction</a:t>
            </a:r>
          </a:p>
          <a:p>
            <a:pPr>
              <a:buFont typeface="Arial" panose="020B0604020202020204" pitchFamily="34" charset="0"/>
              <a:buChar char="•"/>
            </a:pPr>
            <a:r>
              <a:rPr lang="en-GB" dirty="0"/>
              <a:t>Visual similarity comparison</a:t>
            </a:r>
          </a:p>
          <a:p>
            <a:endParaRPr lang="en-GB" dirty="0"/>
          </a:p>
          <a:p>
            <a:pPr>
              <a:buNone/>
            </a:pPr>
            <a:r>
              <a:rPr lang="en-GB" b="1" dirty="0"/>
              <a:t>Decision Threshold</a:t>
            </a:r>
          </a:p>
          <a:p>
            <a:pPr>
              <a:buNone/>
            </a:pPr>
            <a:r>
              <a:rPr lang="en-GB" dirty="0"/>
              <a:t>If combined similarity score &gt; 0.85:</a:t>
            </a:r>
          </a:p>
          <a:p>
            <a:pPr>
              <a:buNone/>
            </a:pPr>
            <a:r>
              <a:rPr lang="en-GB" dirty="0"/>
              <a:t>System displays:</a:t>
            </a:r>
          </a:p>
          <a:p>
            <a:pPr>
              <a:buNone/>
            </a:pPr>
            <a:r>
              <a:rPr lang="en-GB" dirty="0"/>
              <a:t>“A similar issue already exists nearby. Would you like to upvote it?”</a:t>
            </a:r>
          </a:p>
          <a:p>
            <a:pPr>
              <a:buNone/>
            </a:pPr>
            <a:endParaRPr lang="en-GB" dirty="0"/>
          </a:p>
          <a:p>
            <a:pPr>
              <a:buNone/>
            </a:pPr>
            <a:r>
              <a:rPr lang="en-GB" b="1" dirty="0"/>
              <a:t>Benefit</a:t>
            </a:r>
          </a:p>
          <a:p>
            <a:pPr>
              <a:buFont typeface="Arial" panose="020B0604020202020204" pitchFamily="34" charset="0"/>
              <a:buChar char="•"/>
            </a:pPr>
            <a:r>
              <a:rPr lang="en-GB" dirty="0"/>
              <a:t>Reduces redundant complaints</a:t>
            </a:r>
          </a:p>
          <a:p>
            <a:pPr>
              <a:buFont typeface="Arial" panose="020B0604020202020204" pitchFamily="34" charset="0"/>
              <a:buChar char="•"/>
            </a:pPr>
            <a:r>
              <a:rPr lang="en-GB" dirty="0"/>
              <a:t>Improves data quality</a:t>
            </a:r>
          </a:p>
          <a:p>
            <a:pPr>
              <a:buFont typeface="Arial" panose="020B0604020202020204" pitchFamily="34" charset="0"/>
              <a:buChar char="•"/>
            </a:pPr>
            <a:r>
              <a:rPr lang="en-GB" dirty="0"/>
              <a:t>Encourages community participation</a:t>
            </a:r>
            <a:endParaRPr lang="en-IN" dirty="0"/>
          </a:p>
        </p:txBody>
      </p:sp>
      <p:sp>
        <p:nvSpPr>
          <p:cNvPr id="11" name="TextBox 10">
            <a:extLst>
              <a:ext uri="{FF2B5EF4-FFF2-40B4-BE49-F238E27FC236}">
                <a16:creationId xmlns:a16="http://schemas.microsoft.com/office/drawing/2014/main" id="{09BBD115-C9A6-319D-E89E-4ED4BC029A38}"/>
              </a:ext>
            </a:extLst>
          </p:cNvPr>
          <p:cNvSpPr txBox="1"/>
          <p:nvPr/>
        </p:nvSpPr>
        <p:spPr>
          <a:xfrm>
            <a:off x="2723536" y="479012"/>
            <a:ext cx="6253316" cy="461665"/>
          </a:xfrm>
          <a:prstGeom prst="rect">
            <a:avLst/>
          </a:prstGeom>
          <a:noFill/>
        </p:spPr>
        <p:txBody>
          <a:bodyPr wrap="square">
            <a:spAutoFit/>
          </a:bodyPr>
          <a:lstStyle/>
          <a:p>
            <a:pPr>
              <a:buNone/>
            </a:pPr>
            <a:r>
              <a:rPr lang="en-GB" sz="2400" b="1" dirty="0"/>
              <a:t>DUPLICATE ISSUE DETECTION MECHANISM</a:t>
            </a:r>
          </a:p>
        </p:txBody>
      </p:sp>
    </p:spTree>
    <p:extLst>
      <p:ext uri="{BB962C8B-B14F-4D97-AF65-F5344CB8AC3E}">
        <p14:creationId xmlns:p14="http://schemas.microsoft.com/office/powerpoint/2010/main" val="431495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C3B5DE-8F1D-04E3-810E-18A5F02EB5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7670" y="1592826"/>
            <a:ext cx="6858523" cy="4404926"/>
          </a:xfrm>
          <a:prstGeom prst="rect">
            <a:avLst/>
          </a:prstGeom>
        </p:spPr>
      </p:pic>
      <p:sp>
        <p:nvSpPr>
          <p:cNvPr id="4" name="TextBox 3">
            <a:extLst>
              <a:ext uri="{FF2B5EF4-FFF2-40B4-BE49-F238E27FC236}">
                <a16:creationId xmlns:a16="http://schemas.microsoft.com/office/drawing/2014/main" id="{3D6AD13B-0642-9692-A600-8666FC706702}"/>
              </a:ext>
            </a:extLst>
          </p:cNvPr>
          <p:cNvSpPr txBox="1"/>
          <p:nvPr/>
        </p:nvSpPr>
        <p:spPr>
          <a:xfrm>
            <a:off x="3999097" y="695321"/>
            <a:ext cx="6096000" cy="369332"/>
          </a:xfrm>
          <a:prstGeom prst="rect">
            <a:avLst/>
          </a:prstGeom>
          <a:noFill/>
        </p:spPr>
        <p:txBody>
          <a:bodyPr wrap="square">
            <a:spAutoFit/>
          </a:bodyPr>
          <a:lstStyle/>
          <a:p>
            <a:r>
              <a:rPr lang="en-IN" b="1" dirty="0"/>
              <a:t>SYSTEM ARCHITECTURE OVERVIEW</a:t>
            </a:r>
          </a:p>
        </p:txBody>
      </p:sp>
      <p:sp>
        <p:nvSpPr>
          <p:cNvPr id="6" name="TextBox 5">
            <a:extLst>
              <a:ext uri="{FF2B5EF4-FFF2-40B4-BE49-F238E27FC236}">
                <a16:creationId xmlns:a16="http://schemas.microsoft.com/office/drawing/2014/main" id="{AECADADA-06A3-BA12-BA86-D1B0CC98D1BA}"/>
              </a:ext>
            </a:extLst>
          </p:cNvPr>
          <p:cNvSpPr txBox="1"/>
          <p:nvPr/>
        </p:nvSpPr>
        <p:spPr>
          <a:xfrm>
            <a:off x="766916" y="1592826"/>
            <a:ext cx="6096000" cy="2862322"/>
          </a:xfrm>
          <a:prstGeom prst="rect">
            <a:avLst/>
          </a:prstGeom>
          <a:noFill/>
        </p:spPr>
        <p:txBody>
          <a:bodyPr wrap="square">
            <a:spAutoFit/>
          </a:bodyPr>
          <a:lstStyle/>
          <a:p>
            <a:pPr>
              <a:buNone/>
            </a:pPr>
            <a:r>
              <a:rPr lang="en-GB" b="1" dirty="0"/>
              <a:t>1. User Interface Layer</a:t>
            </a:r>
          </a:p>
          <a:p>
            <a:pPr>
              <a:buFont typeface="Arial" panose="020B0604020202020204" pitchFamily="34" charset="0"/>
              <a:buChar char="•"/>
            </a:pPr>
            <a:r>
              <a:rPr lang="en-GB" dirty="0"/>
              <a:t>Web Application</a:t>
            </a:r>
          </a:p>
          <a:p>
            <a:pPr>
              <a:buFont typeface="Arial" panose="020B0604020202020204" pitchFamily="34" charset="0"/>
              <a:buChar char="•"/>
            </a:pPr>
            <a:r>
              <a:rPr lang="en-GB" dirty="0"/>
              <a:t>Citizen Dashboard</a:t>
            </a:r>
          </a:p>
          <a:p>
            <a:r>
              <a:rPr lang="en-GB" dirty="0"/>
              <a:t>ReactJS</a:t>
            </a:r>
          </a:p>
          <a:p>
            <a:pPr>
              <a:buFont typeface="Arial" panose="020B0604020202020204" pitchFamily="34" charset="0"/>
              <a:buChar char="•"/>
            </a:pPr>
            <a:endParaRPr lang="en-GB" dirty="0"/>
          </a:p>
          <a:p>
            <a:pPr>
              <a:buNone/>
            </a:pPr>
            <a:r>
              <a:rPr lang="en-GB" b="1" dirty="0"/>
              <a:t>2. Application Server Layer</a:t>
            </a:r>
          </a:p>
          <a:p>
            <a:pPr>
              <a:buFont typeface="Arial" panose="020B0604020202020204" pitchFamily="34" charset="0"/>
              <a:buChar char="•"/>
            </a:pPr>
            <a:r>
              <a:rPr lang="en-GB" dirty="0"/>
              <a:t>API Gateway</a:t>
            </a:r>
          </a:p>
          <a:p>
            <a:pPr>
              <a:buFont typeface="Arial" panose="020B0604020202020204" pitchFamily="34" charset="0"/>
              <a:buChar char="•"/>
            </a:pPr>
            <a:r>
              <a:rPr lang="en-GB" dirty="0"/>
              <a:t>Authentication Service</a:t>
            </a:r>
          </a:p>
          <a:p>
            <a:pPr>
              <a:buFont typeface="Arial" panose="020B0604020202020204" pitchFamily="34" charset="0"/>
              <a:buChar char="•"/>
            </a:pPr>
            <a:r>
              <a:rPr lang="en-GB" dirty="0"/>
              <a:t>Business Logic Engine</a:t>
            </a:r>
          </a:p>
          <a:p>
            <a:pPr>
              <a:buFont typeface="Arial" panose="020B0604020202020204" pitchFamily="34" charset="0"/>
              <a:buChar char="•"/>
            </a:pPr>
            <a:r>
              <a:rPr lang="en-GB" dirty="0" err="1"/>
              <a:t>NodeJS+Express</a:t>
            </a:r>
            <a:r>
              <a:rPr lang="en-GB" dirty="0"/>
              <a:t>, REST APIs</a:t>
            </a:r>
          </a:p>
        </p:txBody>
      </p:sp>
      <p:sp>
        <p:nvSpPr>
          <p:cNvPr id="8" name="TextBox 7">
            <a:extLst>
              <a:ext uri="{FF2B5EF4-FFF2-40B4-BE49-F238E27FC236}">
                <a16:creationId xmlns:a16="http://schemas.microsoft.com/office/drawing/2014/main" id="{A3285645-5B8A-A053-BCAF-33CE51CDA51B}"/>
              </a:ext>
            </a:extLst>
          </p:cNvPr>
          <p:cNvSpPr txBox="1"/>
          <p:nvPr/>
        </p:nvSpPr>
        <p:spPr>
          <a:xfrm>
            <a:off x="766916" y="4455148"/>
            <a:ext cx="6096000" cy="1754326"/>
          </a:xfrm>
          <a:prstGeom prst="rect">
            <a:avLst/>
          </a:prstGeom>
          <a:noFill/>
        </p:spPr>
        <p:txBody>
          <a:bodyPr wrap="square">
            <a:spAutoFit/>
          </a:bodyPr>
          <a:lstStyle/>
          <a:p>
            <a:pPr>
              <a:buNone/>
            </a:pPr>
            <a:r>
              <a:rPr lang="en-IN" b="1" dirty="0"/>
              <a:t>3. AI Processing Layer</a:t>
            </a:r>
          </a:p>
          <a:p>
            <a:pPr>
              <a:buFont typeface="Arial" panose="020B0604020202020204" pitchFamily="34" charset="0"/>
              <a:buChar char="•"/>
            </a:pPr>
            <a:r>
              <a:rPr lang="en-IN" dirty="0"/>
              <a:t>Text Classification Module (</a:t>
            </a:r>
            <a:r>
              <a:rPr lang="en-IN" dirty="0" err="1"/>
              <a:t>DistilBERT</a:t>
            </a:r>
            <a:r>
              <a:rPr lang="en-IN" dirty="0"/>
              <a:t>)</a:t>
            </a:r>
          </a:p>
          <a:p>
            <a:pPr>
              <a:buFont typeface="Arial" panose="020B0604020202020204" pitchFamily="34" charset="0"/>
              <a:buChar char="•"/>
            </a:pPr>
            <a:r>
              <a:rPr lang="en-IN" dirty="0"/>
              <a:t>Image Classification Module (</a:t>
            </a:r>
            <a:r>
              <a:rPr lang="en-IN" dirty="0" err="1"/>
              <a:t>MobileNet</a:t>
            </a:r>
            <a:r>
              <a:rPr lang="en-IN" dirty="0"/>
              <a:t>)</a:t>
            </a:r>
          </a:p>
          <a:p>
            <a:pPr>
              <a:buFont typeface="Arial" panose="020B0604020202020204" pitchFamily="34" charset="0"/>
              <a:buChar char="•"/>
            </a:pPr>
            <a:r>
              <a:rPr lang="en-IN" dirty="0"/>
              <a:t>Multimodal Fusion Engine</a:t>
            </a:r>
          </a:p>
          <a:p>
            <a:pPr>
              <a:buFont typeface="Arial" panose="020B0604020202020204" pitchFamily="34" charset="0"/>
              <a:buChar char="•"/>
            </a:pPr>
            <a:r>
              <a:rPr lang="en-IN" dirty="0"/>
              <a:t>Severity Prediction Engine</a:t>
            </a:r>
          </a:p>
          <a:p>
            <a:pPr>
              <a:buFont typeface="Arial" panose="020B0604020202020204" pitchFamily="34" charset="0"/>
              <a:buChar char="•"/>
            </a:pPr>
            <a:r>
              <a:rPr lang="en-IN" dirty="0"/>
              <a:t>Duplicate Detection Engine(Sentence-BERT)</a:t>
            </a:r>
          </a:p>
        </p:txBody>
      </p:sp>
    </p:spTree>
    <p:extLst>
      <p:ext uri="{BB962C8B-B14F-4D97-AF65-F5344CB8AC3E}">
        <p14:creationId xmlns:p14="http://schemas.microsoft.com/office/powerpoint/2010/main" val="537809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52C34B3-DAED-A06B-371E-3F8C601DC364}"/>
              </a:ext>
            </a:extLst>
          </p:cNvPr>
          <p:cNvSpPr txBox="1"/>
          <p:nvPr/>
        </p:nvSpPr>
        <p:spPr>
          <a:xfrm>
            <a:off x="766916" y="566678"/>
            <a:ext cx="6096000" cy="2862322"/>
          </a:xfrm>
          <a:prstGeom prst="rect">
            <a:avLst/>
          </a:prstGeom>
          <a:noFill/>
        </p:spPr>
        <p:txBody>
          <a:bodyPr wrap="square">
            <a:spAutoFit/>
          </a:bodyPr>
          <a:lstStyle/>
          <a:p>
            <a:pPr>
              <a:buNone/>
            </a:pPr>
            <a:r>
              <a:rPr lang="en-IN" b="1" dirty="0"/>
              <a:t>4. Data Layer</a:t>
            </a:r>
          </a:p>
          <a:p>
            <a:pPr>
              <a:buFont typeface="Arial" panose="020B0604020202020204" pitchFamily="34" charset="0"/>
              <a:buChar char="•"/>
            </a:pPr>
            <a:r>
              <a:rPr lang="en-IN" dirty="0"/>
              <a:t>Complaint Database</a:t>
            </a:r>
          </a:p>
          <a:p>
            <a:pPr>
              <a:buFont typeface="Arial" panose="020B0604020202020204" pitchFamily="34" charset="0"/>
              <a:buChar char="•"/>
            </a:pPr>
            <a:r>
              <a:rPr lang="en-IN" dirty="0"/>
              <a:t>User Database</a:t>
            </a:r>
          </a:p>
          <a:p>
            <a:pPr>
              <a:buFont typeface="Arial" panose="020B0604020202020204" pitchFamily="34" charset="0"/>
              <a:buChar char="•"/>
            </a:pPr>
            <a:r>
              <a:rPr lang="en-IN" dirty="0"/>
              <a:t>Image Storage</a:t>
            </a:r>
          </a:p>
          <a:p>
            <a:pPr>
              <a:buFont typeface="Arial" panose="020B0604020202020204" pitchFamily="34" charset="0"/>
              <a:buChar char="•"/>
            </a:pPr>
            <a:r>
              <a:rPr lang="en-IN" dirty="0"/>
              <a:t>Model Training Dataset</a:t>
            </a:r>
          </a:p>
          <a:p>
            <a:endParaRPr lang="en-IN" dirty="0"/>
          </a:p>
          <a:p>
            <a:pPr>
              <a:buNone/>
            </a:pPr>
            <a:r>
              <a:rPr lang="en-IN" b="1" dirty="0"/>
              <a:t>5. Admin &amp; Analytics Layer</a:t>
            </a:r>
          </a:p>
          <a:p>
            <a:pPr>
              <a:buFont typeface="Arial" panose="020B0604020202020204" pitchFamily="34" charset="0"/>
              <a:buChar char="•"/>
            </a:pPr>
            <a:r>
              <a:rPr lang="en-IN" dirty="0"/>
              <a:t>Department Dashboards</a:t>
            </a:r>
          </a:p>
          <a:p>
            <a:pPr>
              <a:buFont typeface="Arial" panose="020B0604020202020204" pitchFamily="34" charset="0"/>
              <a:buChar char="•"/>
            </a:pPr>
            <a:r>
              <a:rPr lang="en-IN" dirty="0"/>
              <a:t>Heatmap Generator</a:t>
            </a:r>
          </a:p>
          <a:p>
            <a:pPr>
              <a:buFont typeface="Arial" panose="020B0604020202020204" pitchFamily="34" charset="0"/>
              <a:buChar char="•"/>
            </a:pPr>
            <a:r>
              <a:rPr lang="en-IN" dirty="0"/>
              <a:t>Performance Analytics</a:t>
            </a:r>
          </a:p>
        </p:txBody>
      </p:sp>
      <p:pic>
        <p:nvPicPr>
          <p:cNvPr id="9" name="Picture 8">
            <a:extLst>
              <a:ext uri="{FF2B5EF4-FFF2-40B4-BE49-F238E27FC236}">
                <a16:creationId xmlns:a16="http://schemas.microsoft.com/office/drawing/2014/main" id="{89C9455E-60F7-CFBE-F9ED-18FF25346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5531" y="404887"/>
            <a:ext cx="7816140" cy="4983124"/>
          </a:xfrm>
          <a:prstGeom prst="rect">
            <a:avLst/>
          </a:prstGeom>
        </p:spPr>
      </p:pic>
    </p:spTree>
    <p:extLst>
      <p:ext uri="{BB962C8B-B14F-4D97-AF65-F5344CB8AC3E}">
        <p14:creationId xmlns:p14="http://schemas.microsoft.com/office/powerpoint/2010/main" val="1009376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56B914A-B970-A152-10DF-A93B5800DB21}"/>
              </a:ext>
            </a:extLst>
          </p:cNvPr>
          <p:cNvSpPr txBox="1"/>
          <p:nvPr/>
        </p:nvSpPr>
        <p:spPr>
          <a:xfrm>
            <a:off x="3254723" y="488844"/>
            <a:ext cx="6096000" cy="461665"/>
          </a:xfrm>
          <a:prstGeom prst="rect">
            <a:avLst/>
          </a:prstGeom>
          <a:noFill/>
        </p:spPr>
        <p:txBody>
          <a:bodyPr wrap="square">
            <a:spAutoFit/>
          </a:bodyPr>
          <a:lstStyle/>
          <a:p>
            <a:r>
              <a:rPr lang="en-IN" sz="2400" b="1" dirty="0"/>
              <a:t>USER &amp; ADMIN WORKFLOW OVERVIEW</a:t>
            </a:r>
          </a:p>
        </p:txBody>
      </p:sp>
      <p:sp>
        <p:nvSpPr>
          <p:cNvPr id="9" name="TextBox 8">
            <a:extLst>
              <a:ext uri="{FF2B5EF4-FFF2-40B4-BE49-F238E27FC236}">
                <a16:creationId xmlns:a16="http://schemas.microsoft.com/office/drawing/2014/main" id="{98A8CA3B-24A4-ADDD-4309-B09BCA9A8C77}"/>
              </a:ext>
            </a:extLst>
          </p:cNvPr>
          <p:cNvSpPr txBox="1"/>
          <p:nvPr/>
        </p:nvSpPr>
        <p:spPr>
          <a:xfrm>
            <a:off x="963561" y="1390527"/>
            <a:ext cx="6096000" cy="5078313"/>
          </a:xfrm>
          <a:prstGeom prst="rect">
            <a:avLst/>
          </a:prstGeom>
          <a:noFill/>
        </p:spPr>
        <p:txBody>
          <a:bodyPr wrap="square">
            <a:spAutoFit/>
          </a:bodyPr>
          <a:lstStyle/>
          <a:p>
            <a:pPr>
              <a:buNone/>
            </a:pPr>
            <a:r>
              <a:rPr lang="en-GB" b="1" dirty="0"/>
              <a:t>User Workflow</a:t>
            </a:r>
          </a:p>
          <a:p>
            <a:pPr>
              <a:buFont typeface="+mj-lt"/>
              <a:buAutoNum type="arabicPeriod"/>
            </a:pPr>
            <a:r>
              <a:rPr lang="en-GB" dirty="0"/>
              <a:t>User opens CityTrack application</a:t>
            </a:r>
          </a:p>
          <a:p>
            <a:pPr>
              <a:buFont typeface="+mj-lt"/>
              <a:buAutoNum type="arabicPeriod"/>
            </a:pPr>
            <a:r>
              <a:rPr lang="en-GB" dirty="0"/>
              <a:t>Browses city feed</a:t>
            </a:r>
          </a:p>
          <a:p>
            <a:pPr>
              <a:buFont typeface="+mj-lt"/>
              <a:buAutoNum type="arabicPeriod"/>
            </a:pPr>
            <a:r>
              <a:rPr lang="en-GB" dirty="0"/>
              <a:t>Submits complaint (Text + Image + GPS)</a:t>
            </a:r>
          </a:p>
          <a:p>
            <a:pPr>
              <a:buFont typeface="+mj-lt"/>
              <a:buAutoNum type="arabicPeriod"/>
            </a:pPr>
            <a:r>
              <a:rPr lang="en-GB" dirty="0"/>
              <a:t>AI processes complaint</a:t>
            </a:r>
          </a:p>
          <a:p>
            <a:pPr>
              <a:buFont typeface="+mj-lt"/>
              <a:buAutoNum type="arabicPeriod"/>
            </a:pPr>
            <a:r>
              <a:rPr lang="en-GB" dirty="0"/>
              <a:t>User receives submission confirmation</a:t>
            </a:r>
          </a:p>
          <a:p>
            <a:pPr>
              <a:buFont typeface="+mj-lt"/>
              <a:buAutoNum type="arabicPeriod"/>
            </a:pPr>
            <a:r>
              <a:rPr lang="en-GB" dirty="0"/>
              <a:t>Tracks issue status in real time</a:t>
            </a:r>
          </a:p>
          <a:p>
            <a:endParaRPr lang="en-GB" dirty="0"/>
          </a:p>
          <a:p>
            <a:pPr>
              <a:buNone/>
            </a:pPr>
            <a:r>
              <a:rPr lang="en-GB" b="1" dirty="0"/>
              <a:t>Admin Workflow</a:t>
            </a:r>
          </a:p>
          <a:p>
            <a:pPr>
              <a:buFont typeface="+mj-lt"/>
              <a:buAutoNum type="arabicPeriod"/>
            </a:pPr>
            <a:r>
              <a:rPr lang="en-GB" dirty="0"/>
              <a:t>Department receives assigned complaint</a:t>
            </a:r>
          </a:p>
          <a:p>
            <a:pPr>
              <a:buFont typeface="+mj-lt"/>
              <a:buAutoNum type="arabicPeriod"/>
            </a:pPr>
            <a:r>
              <a:rPr lang="en-GB" dirty="0"/>
              <a:t>Admin verifies issue details</a:t>
            </a:r>
          </a:p>
          <a:p>
            <a:pPr>
              <a:buFont typeface="+mj-lt"/>
              <a:buAutoNum type="arabicPeriod"/>
            </a:pPr>
            <a:r>
              <a:rPr lang="en-GB" dirty="0"/>
              <a:t>Assigns task to field worker</a:t>
            </a:r>
          </a:p>
          <a:p>
            <a:pPr>
              <a:buFont typeface="+mj-lt"/>
              <a:buAutoNum type="arabicPeriod"/>
            </a:pPr>
            <a:r>
              <a:rPr lang="en-GB" dirty="0"/>
              <a:t>Monitors progress</a:t>
            </a:r>
          </a:p>
          <a:p>
            <a:pPr>
              <a:buFont typeface="+mj-lt"/>
              <a:buAutoNum type="arabicPeriod"/>
            </a:pPr>
            <a:r>
              <a:rPr lang="en-GB" dirty="0"/>
              <a:t>Marks issue as resolved</a:t>
            </a:r>
          </a:p>
          <a:p>
            <a:endParaRPr lang="en-GB" dirty="0"/>
          </a:p>
          <a:p>
            <a:pPr>
              <a:buNone/>
            </a:pPr>
            <a:r>
              <a:rPr lang="en-GB" b="1" dirty="0"/>
              <a:t>Real-Time Synchronization</a:t>
            </a:r>
          </a:p>
          <a:p>
            <a:pPr>
              <a:buFont typeface="Arial" panose="020B0604020202020204" pitchFamily="34" charset="0"/>
              <a:buChar char="•"/>
            </a:pPr>
            <a:r>
              <a:rPr lang="en-GB" dirty="0"/>
              <a:t>All updates reflect instantly on user dashboard</a:t>
            </a:r>
          </a:p>
          <a:p>
            <a:pPr>
              <a:buFont typeface="Arial" panose="020B0604020202020204" pitchFamily="34" charset="0"/>
              <a:buChar char="•"/>
            </a:pPr>
            <a:r>
              <a:rPr lang="en-GB" dirty="0"/>
              <a:t>Notifications sent at each stage</a:t>
            </a:r>
          </a:p>
        </p:txBody>
      </p:sp>
      <p:pic>
        <p:nvPicPr>
          <p:cNvPr id="10" name="Picture 9">
            <a:extLst>
              <a:ext uri="{FF2B5EF4-FFF2-40B4-BE49-F238E27FC236}">
                <a16:creationId xmlns:a16="http://schemas.microsoft.com/office/drawing/2014/main" id="{C2F72D8A-51B4-8414-E20C-842D557B7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3601" y="1390527"/>
            <a:ext cx="3804838" cy="4430634"/>
          </a:xfrm>
          <a:prstGeom prst="rect">
            <a:avLst/>
          </a:prstGeom>
        </p:spPr>
      </p:pic>
    </p:spTree>
    <p:extLst>
      <p:ext uri="{BB962C8B-B14F-4D97-AF65-F5344CB8AC3E}">
        <p14:creationId xmlns:p14="http://schemas.microsoft.com/office/powerpoint/2010/main" val="3596786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5D3EBF6-933E-27E3-B420-78BB3EBA8916}"/>
              </a:ext>
            </a:extLst>
          </p:cNvPr>
          <p:cNvSpPr txBox="1"/>
          <p:nvPr/>
        </p:nvSpPr>
        <p:spPr>
          <a:xfrm>
            <a:off x="4286865" y="189961"/>
            <a:ext cx="6096000" cy="584775"/>
          </a:xfrm>
          <a:prstGeom prst="rect">
            <a:avLst/>
          </a:prstGeom>
          <a:noFill/>
        </p:spPr>
        <p:txBody>
          <a:bodyPr wrap="square">
            <a:spAutoFit/>
          </a:bodyPr>
          <a:lstStyle/>
          <a:p>
            <a:r>
              <a:rPr lang="en-IN" sz="3200" b="1" dirty="0"/>
              <a:t>Conclusion</a:t>
            </a:r>
          </a:p>
        </p:txBody>
      </p:sp>
      <p:sp>
        <p:nvSpPr>
          <p:cNvPr id="9" name="TextBox 8">
            <a:extLst>
              <a:ext uri="{FF2B5EF4-FFF2-40B4-BE49-F238E27FC236}">
                <a16:creationId xmlns:a16="http://schemas.microsoft.com/office/drawing/2014/main" id="{53C32BF3-FE03-1638-8FFD-E49C161281A6}"/>
              </a:ext>
            </a:extLst>
          </p:cNvPr>
          <p:cNvSpPr txBox="1"/>
          <p:nvPr/>
        </p:nvSpPr>
        <p:spPr>
          <a:xfrm>
            <a:off x="216309" y="931917"/>
            <a:ext cx="6096000" cy="4247317"/>
          </a:xfrm>
          <a:prstGeom prst="rect">
            <a:avLst/>
          </a:prstGeom>
          <a:noFill/>
        </p:spPr>
        <p:txBody>
          <a:bodyPr wrap="square">
            <a:spAutoFit/>
          </a:bodyPr>
          <a:lstStyle/>
          <a:p>
            <a:pPr>
              <a:buNone/>
            </a:pPr>
            <a:r>
              <a:rPr lang="en-GB" b="1" dirty="0"/>
              <a:t>Industry Readiness Factors</a:t>
            </a:r>
          </a:p>
          <a:p>
            <a:pPr>
              <a:buNone/>
            </a:pPr>
            <a:r>
              <a:rPr lang="en-GB" dirty="0"/>
              <a:t>CityTrack follows industry practices such as:</a:t>
            </a:r>
          </a:p>
          <a:p>
            <a:pPr>
              <a:buFont typeface="Arial" panose="020B0604020202020204" pitchFamily="34" charset="0"/>
              <a:buChar char="•"/>
            </a:pPr>
            <a:r>
              <a:rPr lang="en-GB" dirty="0"/>
              <a:t>REST API architecture</a:t>
            </a:r>
          </a:p>
          <a:p>
            <a:pPr>
              <a:buFont typeface="Arial" panose="020B0604020202020204" pitchFamily="34" charset="0"/>
              <a:buChar char="•"/>
            </a:pPr>
            <a:r>
              <a:rPr lang="en-GB" dirty="0"/>
              <a:t>Modular AI microservices</a:t>
            </a:r>
          </a:p>
          <a:p>
            <a:pPr>
              <a:buFont typeface="Arial" panose="020B0604020202020204" pitchFamily="34" charset="0"/>
              <a:buChar char="•"/>
            </a:pPr>
            <a:r>
              <a:rPr lang="en-GB" dirty="0"/>
              <a:t>Role-based access control</a:t>
            </a:r>
          </a:p>
          <a:p>
            <a:pPr>
              <a:buFont typeface="Arial" panose="020B0604020202020204" pitchFamily="34" charset="0"/>
              <a:buChar char="•"/>
            </a:pPr>
            <a:r>
              <a:rPr lang="en-GB" dirty="0"/>
              <a:t>Cloud compatibility</a:t>
            </a:r>
          </a:p>
          <a:p>
            <a:pPr>
              <a:buFont typeface="Arial" panose="020B0604020202020204" pitchFamily="34" charset="0"/>
              <a:buChar char="•"/>
            </a:pPr>
            <a:r>
              <a:rPr lang="en-GB" dirty="0"/>
              <a:t>Data security practices</a:t>
            </a:r>
          </a:p>
          <a:p>
            <a:endParaRPr lang="en-GB" dirty="0"/>
          </a:p>
          <a:p>
            <a:pPr>
              <a:buNone/>
            </a:pPr>
            <a:r>
              <a:rPr lang="en-GB" b="1" dirty="0"/>
              <a:t>Performance Observations (Sample Results)</a:t>
            </a:r>
          </a:p>
          <a:p>
            <a:pPr>
              <a:buFont typeface="Arial" panose="020B0604020202020204" pitchFamily="34" charset="0"/>
              <a:buChar char="•"/>
            </a:pPr>
            <a:r>
              <a:rPr lang="en-GB" dirty="0"/>
              <a:t>Complaint classification accuracy: ~90%</a:t>
            </a:r>
          </a:p>
          <a:p>
            <a:pPr>
              <a:buFont typeface="Arial" panose="020B0604020202020204" pitchFamily="34" charset="0"/>
              <a:buChar char="•"/>
            </a:pPr>
            <a:r>
              <a:rPr lang="en-GB" dirty="0"/>
              <a:t>Image classification accuracy: ~88%</a:t>
            </a:r>
          </a:p>
          <a:p>
            <a:pPr>
              <a:buFont typeface="Arial" panose="020B0604020202020204" pitchFamily="34" charset="0"/>
              <a:buChar char="•"/>
            </a:pPr>
            <a:r>
              <a:rPr lang="en-GB" dirty="0"/>
              <a:t>Duplicate detection precision improvement: ~30% reduction in redundant entries</a:t>
            </a:r>
          </a:p>
          <a:p>
            <a:pPr>
              <a:buFont typeface="Arial" panose="020B0604020202020204" pitchFamily="34" charset="0"/>
              <a:buChar char="•"/>
            </a:pPr>
            <a:r>
              <a:rPr lang="en-GB" dirty="0"/>
              <a:t>Average complaint routing time reduced significantly</a:t>
            </a:r>
          </a:p>
          <a:p>
            <a:endParaRPr lang="en-GB" dirty="0"/>
          </a:p>
        </p:txBody>
      </p:sp>
      <p:sp>
        <p:nvSpPr>
          <p:cNvPr id="11" name="TextBox 10">
            <a:extLst>
              <a:ext uri="{FF2B5EF4-FFF2-40B4-BE49-F238E27FC236}">
                <a16:creationId xmlns:a16="http://schemas.microsoft.com/office/drawing/2014/main" id="{5E5D1D27-D222-9681-9B6A-4F0A48E47C22}"/>
              </a:ext>
            </a:extLst>
          </p:cNvPr>
          <p:cNvSpPr txBox="1"/>
          <p:nvPr/>
        </p:nvSpPr>
        <p:spPr>
          <a:xfrm>
            <a:off x="6312309" y="745605"/>
            <a:ext cx="6096000" cy="1754326"/>
          </a:xfrm>
          <a:prstGeom prst="rect">
            <a:avLst/>
          </a:prstGeom>
          <a:noFill/>
        </p:spPr>
        <p:txBody>
          <a:bodyPr wrap="square">
            <a:spAutoFit/>
          </a:bodyPr>
          <a:lstStyle/>
          <a:p>
            <a:pPr>
              <a:buNone/>
            </a:pPr>
            <a:endParaRPr lang="en-GB" dirty="0"/>
          </a:p>
          <a:p>
            <a:pPr>
              <a:buNone/>
            </a:pPr>
            <a:r>
              <a:rPr lang="en-GB" dirty="0"/>
              <a:t>The project improves:</a:t>
            </a:r>
          </a:p>
          <a:p>
            <a:pPr>
              <a:buFont typeface="Arial" panose="020B0604020202020204" pitchFamily="34" charset="0"/>
              <a:buChar char="•"/>
            </a:pPr>
            <a:r>
              <a:rPr lang="en-GB" dirty="0"/>
              <a:t>Transparency between citizens and authorities</a:t>
            </a:r>
          </a:p>
          <a:p>
            <a:pPr>
              <a:buFont typeface="Arial" panose="020B0604020202020204" pitchFamily="34" charset="0"/>
              <a:buChar char="•"/>
            </a:pPr>
            <a:r>
              <a:rPr lang="en-GB" dirty="0"/>
              <a:t>Response efficiency of municipal departments</a:t>
            </a:r>
          </a:p>
          <a:p>
            <a:pPr>
              <a:buFont typeface="Arial" panose="020B0604020202020204" pitchFamily="34" charset="0"/>
              <a:buChar char="•"/>
            </a:pPr>
            <a:r>
              <a:rPr lang="en-GB" dirty="0"/>
              <a:t>Overall quality of urban service delivery</a:t>
            </a:r>
          </a:p>
          <a:p>
            <a:endParaRPr lang="en-GB" dirty="0"/>
          </a:p>
        </p:txBody>
      </p:sp>
      <p:sp>
        <p:nvSpPr>
          <p:cNvPr id="13" name="TextBox 12">
            <a:extLst>
              <a:ext uri="{FF2B5EF4-FFF2-40B4-BE49-F238E27FC236}">
                <a16:creationId xmlns:a16="http://schemas.microsoft.com/office/drawing/2014/main" id="{9A07CB0F-D169-2664-21F4-FADF93F5ABFB}"/>
              </a:ext>
            </a:extLst>
          </p:cNvPr>
          <p:cNvSpPr txBox="1"/>
          <p:nvPr/>
        </p:nvSpPr>
        <p:spPr>
          <a:xfrm>
            <a:off x="6528619" y="4793286"/>
            <a:ext cx="6204154" cy="1477328"/>
          </a:xfrm>
          <a:prstGeom prst="rect">
            <a:avLst/>
          </a:prstGeom>
          <a:noFill/>
        </p:spPr>
        <p:txBody>
          <a:bodyPr wrap="square">
            <a:spAutoFit/>
          </a:bodyPr>
          <a:lstStyle/>
          <a:p>
            <a:pPr>
              <a:buNone/>
            </a:pPr>
            <a:r>
              <a:rPr lang="en-GB" b="1" dirty="0"/>
              <a:t>Practical Impact</a:t>
            </a:r>
          </a:p>
          <a:p>
            <a:pPr>
              <a:buFont typeface="Arial" panose="020B0604020202020204" pitchFamily="34" charset="0"/>
              <a:buChar char="•"/>
            </a:pPr>
            <a:r>
              <a:rPr lang="en-GB" dirty="0"/>
              <a:t>Faster service delivery</a:t>
            </a:r>
          </a:p>
          <a:p>
            <a:pPr>
              <a:buFont typeface="Arial" panose="020B0604020202020204" pitchFamily="34" charset="0"/>
              <a:buChar char="•"/>
            </a:pPr>
            <a:r>
              <a:rPr lang="en-GB" dirty="0"/>
              <a:t>Improved citizen satisfaction</a:t>
            </a:r>
          </a:p>
          <a:p>
            <a:pPr>
              <a:buFont typeface="Arial" panose="020B0604020202020204" pitchFamily="34" charset="0"/>
              <a:buChar char="•"/>
            </a:pPr>
            <a:r>
              <a:rPr lang="en-GB" dirty="0"/>
              <a:t>Reduced manual workload for departments</a:t>
            </a:r>
          </a:p>
          <a:p>
            <a:pPr>
              <a:buFont typeface="Arial" panose="020B0604020202020204" pitchFamily="34" charset="0"/>
              <a:buChar char="•"/>
            </a:pPr>
            <a:r>
              <a:rPr lang="en-GB" dirty="0"/>
              <a:t>Better data-driven decision making</a:t>
            </a:r>
          </a:p>
        </p:txBody>
      </p:sp>
      <p:sp>
        <p:nvSpPr>
          <p:cNvPr id="15" name="TextBox 14">
            <a:extLst>
              <a:ext uri="{FF2B5EF4-FFF2-40B4-BE49-F238E27FC236}">
                <a16:creationId xmlns:a16="http://schemas.microsoft.com/office/drawing/2014/main" id="{D7B3AB2A-0B0D-976C-72C0-C0F6E4083022}"/>
              </a:ext>
            </a:extLst>
          </p:cNvPr>
          <p:cNvSpPr txBox="1"/>
          <p:nvPr/>
        </p:nvSpPr>
        <p:spPr>
          <a:xfrm>
            <a:off x="6179575" y="2499931"/>
            <a:ext cx="6228734" cy="1754326"/>
          </a:xfrm>
          <a:prstGeom prst="rect">
            <a:avLst/>
          </a:prstGeom>
          <a:noFill/>
        </p:spPr>
        <p:txBody>
          <a:bodyPr wrap="square">
            <a:spAutoFit/>
          </a:bodyPr>
          <a:lstStyle/>
          <a:p>
            <a:r>
              <a:rPr lang="en-GB" b="1" dirty="0"/>
              <a:t>Key Achievements</a:t>
            </a:r>
          </a:p>
          <a:p>
            <a:pPr>
              <a:buFont typeface="Arial" panose="020B0604020202020204" pitchFamily="34" charset="0"/>
              <a:buChar char="•"/>
            </a:pPr>
            <a:r>
              <a:rPr lang="en-GB" dirty="0"/>
              <a:t>Designed a complete end-to-end complaint management system</a:t>
            </a:r>
          </a:p>
          <a:p>
            <a:pPr>
              <a:buFont typeface="Arial" panose="020B0604020202020204" pitchFamily="34" charset="0"/>
              <a:buChar char="•"/>
            </a:pPr>
            <a:r>
              <a:rPr lang="en-GB" dirty="0"/>
              <a:t>Implemented multimodal AI for accurate classification</a:t>
            </a:r>
          </a:p>
          <a:p>
            <a:pPr>
              <a:buFont typeface="Arial" panose="020B0604020202020204" pitchFamily="34" charset="0"/>
              <a:buChar char="•"/>
            </a:pPr>
            <a:r>
              <a:rPr lang="en-GB" dirty="0"/>
              <a:t>Developed automated severity prioritization logic</a:t>
            </a:r>
          </a:p>
          <a:p>
            <a:pPr>
              <a:buFont typeface="Arial" panose="020B0604020202020204" pitchFamily="34" charset="0"/>
              <a:buChar char="•"/>
            </a:pPr>
            <a:r>
              <a:rPr lang="en-GB" dirty="0"/>
              <a:t>Integrated duplicate detection for data efficiency</a:t>
            </a:r>
          </a:p>
          <a:p>
            <a:pPr>
              <a:buFont typeface="Arial" panose="020B0604020202020204" pitchFamily="34" charset="0"/>
              <a:buChar char="•"/>
            </a:pPr>
            <a:r>
              <a:rPr lang="en-GB" dirty="0"/>
              <a:t>Built real-time tracking and role-based dashboards</a:t>
            </a:r>
          </a:p>
        </p:txBody>
      </p:sp>
    </p:spTree>
    <p:extLst>
      <p:ext uri="{BB962C8B-B14F-4D97-AF65-F5344CB8AC3E}">
        <p14:creationId xmlns:p14="http://schemas.microsoft.com/office/powerpoint/2010/main" val="227022096"/>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825</TotalTime>
  <Words>2163</Words>
  <Application>Microsoft Office PowerPoint</Application>
  <PresentationFormat>Widescreen</PresentationFormat>
  <Paragraphs>393</Paragraphs>
  <Slides>24</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Courier New</vt:lpstr>
      <vt:lpstr>Gill Sans Nova Light</vt:lpstr>
      <vt:lpstr>Sagona Book</vt:lpstr>
      <vt:lpstr>Symbol</vt:lpstr>
      <vt:lpstr>Times New Roman</vt:lpstr>
      <vt:lpstr>Custom</vt:lpstr>
      <vt:lpstr>CityTrack </vt:lpstr>
      <vt:lpstr>Table of contents</vt:lpstr>
      <vt:lpstr>Introduction</vt:lpstr>
      <vt:lpstr>PowerPoint Presentation</vt:lpstr>
      <vt:lpstr>Literature Review</vt:lpstr>
      <vt:lpstr>PowerPoint Presentation</vt:lpstr>
      <vt:lpstr>PowerPoint Presentation</vt:lpstr>
      <vt:lpstr>Problem Statement</vt:lpstr>
      <vt:lpstr>Project Objectives</vt:lpstr>
      <vt:lpstr>PowerPoint Presentation</vt:lpstr>
      <vt:lpstr>PowerPoint Presentation</vt:lpstr>
      <vt:lpstr>WORKFLOW</vt:lpstr>
      <vt:lpstr>USER LOGIN </vt:lpstr>
      <vt:lpstr>USER REGISTRATION </vt:lpstr>
      <vt:lpstr>USER INTERFACE</vt:lpstr>
      <vt:lpstr>REPORT AN ISSUE</vt:lpstr>
      <vt:lpstr>ADMIN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Kshitij Singh</cp:lastModifiedBy>
  <cp:revision>10</cp:revision>
  <dcterms:created xsi:type="dcterms:W3CDTF">2026-02-02T20:56:41Z</dcterms:created>
  <dcterms:modified xsi:type="dcterms:W3CDTF">2026-05-08T03:14:55Z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